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2.xml.rels" ContentType="application/vnd.openxmlformats-package.relationships+xml"/>
  <Override PartName="/ppt/slideLayouts/_rels/slideLayout8.xml.rels" ContentType="application/vnd.openxmlformats-package.relationships+xml"/>
  <Override PartName="/ppt/slideLayouts/_rels/slideLayout11.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9.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theme/theme12.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4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CA" sz="2000" spc="-1" strike="noStrike">
                <a:solidFill>
                  <a:srgbClr val="000000"/>
                </a:solidFill>
                <a:latin typeface="Arial"/>
              </a:rPr>
              <a:t>Click to edit the notes format</a:t>
            </a:r>
            <a:endParaRPr b="0" lang="en-CA" sz="2000" spc="-1" strike="noStrike">
              <a:solidFill>
                <a:srgbClr val="000000"/>
              </a:solidFill>
              <a:latin typeface="Arial"/>
            </a:endParaRPr>
          </a:p>
        </p:txBody>
      </p:sp>
      <p:sp>
        <p:nvSpPr>
          <p:cNvPr id="4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CA" sz="1400" spc="-1" strike="noStrike">
                <a:solidFill>
                  <a:srgbClr val="000000"/>
                </a:solidFill>
                <a:latin typeface="Times New Roman"/>
              </a:rPr>
              <a:t>&lt;header&gt;</a:t>
            </a:r>
            <a:endParaRPr b="0" lang="en-CA" sz="1400" spc="-1" strike="noStrike">
              <a:solidFill>
                <a:srgbClr val="000000"/>
              </a:solidFill>
              <a:latin typeface="Times New Roman"/>
            </a:endParaRPr>
          </a:p>
        </p:txBody>
      </p:sp>
      <p:sp>
        <p:nvSpPr>
          <p:cNvPr id="43"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b="0" lang="en-CA" sz="1400" spc="-1" strike="noStrike">
                <a:solidFill>
                  <a:srgbClr val="000000"/>
                </a:solidFill>
                <a:latin typeface="Times New Roman"/>
              </a:defRPr>
            </a:lvl1pPr>
          </a:lstStyle>
          <a:p>
            <a:pPr indent="0" algn="r">
              <a:buNone/>
            </a:pPr>
            <a:r>
              <a:rPr b="0" lang="en-CA" sz="1400" spc="-1" strike="noStrike">
                <a:solidFill>
                  <a:srgbClr val="000000"/>
                </a:solidFill>
                <a:latin typeface="Times New Roman"/>
              </a:rPr>
              <a:t>&lt;date/time&gt;</a:t>
            </a:r>
            <a:endParaRPr b="0" lang="en-CA" sz="1400" spc="-1" strike="noStrike">
              <a:solidFill>
                <a:srgbClr val="000000"/>
              </a:solidFill>
              <a:latin typeface="Times New Roman"/>
            </a:endParaRPr>
          </a:p>
        </p:txBody>
      </p:sp>
      <p:sp>
        <p:nvSpPr>
          <p:cNvPr id="44"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b="0" lang="en-CA" sz="1400" spc="-1" strike="noStrike">
                <a:solidFill>
                  <a:srgbClr val="000000"/>
                </a:solidFill>
                <a:latin typeface="Times New Roman"/>
              </a:defRPr>
            </a:lvl1pPr>
          </a:lstStyle>
          <a:p>
            <a:pPr indent="0">
              <a:buNone/>
            </a:pPr>
            <a:r>
              <a:rPr b="0" lang="en-CA" sz="1400" spc="-1" strike="noStrike">
                <a:solidFill>
                  <a:srgbClr val="000000"/>
                </a:solidFill>
                <a:latin typeface="Times New Roman"/>
              </a:rPr>
              <a:t>&lt;footer&gt;</a:t>
            </a:r>
            <a:endParaRPr b="0" lang="en-CA" sz="1400" spc="-1" strike="noStrike">
              <a:solidFill>
                <a:srgbClr val="000000"/>
              </a:solidFill>
              <a:latin typeface="Times New Roman"/>
            </a:endParaRPr>
          </a:p>
        </p:txBody>
      </p:sp>
      <p:sp>
        <p:nvSpPr>
          <p:cNvPr id="45"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b="0" lang="en-CA" sz="1400" spc="-1" strike="noStrike">
                <a:solidFill>
                  <a:srgbClr val="000000"/>
                </a:solidFill>
                <a:latin typeface="Times New Roman"/>
              </a:defRPr>
            </a:lvl1pPr>
          </a:lstStyle>
          <a:p>
            <a:pPr indent="0" algn="r">
              <a:buNone/>
            </a:pPr>
            <a:fld id="{A76F023C-FE76-4727-8027-108259F33C55}" type="slidenum">
              <a:rPr b="0" lang="en-CA" sz="1400" spc="-1" strike="noStrike">
                <a:solidFill>
                  <a:srgbClr val="000000"/>
                </a:solidFill>
                <a:latin typeface="Times New Roman"/>
              </a:rPr>
              <a:t>&lt;number&gt;</a:t>
            </a:fld>
            <a:endParaRPr b="0" lang="en-CA"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1143000" y="685800"/>
            <a:ext cx="4571640" cy="3428640"/>
          </a:xfrm>
          <a:prstGeom prst="rect">
            <a:avLst/>
          </a:prstGeom>
          <a:ln w="0">
            <a:noFill/>
          </a:ln>
        </p:spPr>
      </p:sp>
      <p:sp>
        <p:nvSpPr>
          <p:cNvPr id="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Good morning. In modern software engineering, moving to microservices or event-driven patterns is often framed as an inevitable rite of passage. But architecture is not about following trends; it is the discipline of trading one set of problems for another to solve business bottlenecks.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Today, I'm defending an architectural framework for evolving our system. We will evaluate modular monoliths versus microservices, dissect the real operational tax of event-driven messaging, and establish a pragmatic heuristic for when and how to transition without sinking engineering velocity.</a:t>
            </a:r>
            <a:endParaRPr b="0" lang="en-CA" sz="2000" spc="-1" strike="noStrike">
              <a:solidFill>
                <a:srgbClr val="000000"/>
              </a:solidFill>
              <a:latin typeface="Arial"/>
            </a:endParaRPr>
          </a:p>
        </p:txBody>
      </p:sp>
      <p:sp>
        <p:nvSpPr>
          <p:cNvPr id="91" name="PlaceHolder 3"/>
          <p:cNvSpPr>
            <a:spLocks noGrp="1"/>
          </p:cNvSpPr>
          <p:nvPr>
            <p:ph type="sldNum" idx="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8400CEA-6E42-4D72-8858-A82B39C3A75F}"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1143000" y="685800"/>
            <a:ext cx="4571640" cy="3428640"/>
          </a:xfrm>
          <a:prstGeom prst="rect">
            <a:avLst/>
          </a:prstGeom>
          <a:ln w="0">
            <a:noFill/>
          </a:ln>
        </p:spPr>
      </p:sp>
      <p:sp>
        <p:nvSpPr>
          <p:cNvPr id="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Let's ground ourselves in the structural differences shown here on Diagram 1.</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In a modular monolith, domain separation is strictly enforced in code via module encapsulation. Business logic communicates via in-memory function calls—measuring latency in nanoseconds. State is unified within a relational database, giving us native ACID guarantees and zero-cost joins.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Microservices replace logical boundaries with physical network boundaries. Each domain owns its data store exclusively. Inter-service communication crosses the network using gRPC or REST. This introduces serialization overhead, network latency, and distributed state—meaning single database transactions are no longer possible.</a:t>
            </a:r>
            <a:endParaRPr b="0" lang="en-CA" sz="2000" spc="-1" strike="noStrike">
              <a:solidFill>
                <a:srgbClr val="000000"/>
              </a:solidFill>
              <a:latin typeface="Arial"/>
            </a:endParaRPr>
          </a:p>
        </p:txBody>
      </p:sp>
      <p:sp>
        <p:nvSpPr>
          <p:cNvPr id="94" name="PlaceHolder 3"/>
          <p:cNvSpPr>
            <a:spLocks noGrp="1"/>
          </p:cNvSpPr>
          <p:nvPr>
            <p:ph type="sldNum" idx="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669545-0697-4479-B56B-37495D42A26D}"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ldImg"/>
          </p:nvPr>
        </p:nvSpPr>
        <p:spPr>
          <a:xfrm>
            <a:off x="1143000" y="685800"/>
            <a:ext cx="4571640" cy="3428640"/>
          </a:xfrm>
          <a:prstGeom prst="rect">
            <a:avLst/>
          </a:prstGeom>
          <a:ln w="0">
            <a:noFill/>
          </a:ln>
        </p:spPr>
      </p:sp>
      <p:sp>
        <p:nvSpPr>
          <p:cNvPr id="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Why do high-growth companies regret premature microservice adoptions? Because a modular monolith beats microservices across almost every local engineering vector.</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In a monolith, refactoring a boundary is an IDE rename. Debugging is a single local stack trace. You don't need distributed tracing, network timeouts, or distributed sagas.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However, microservices become justifiable when organizational scale breaks team velocity. When you have 50 or 100 engineers committing to the same codebase, coordination overhead exceeds technical overhead. Microservices let teams deploy independently without waiting for enterprise release trains.</a:t>
            </a:r>
            <a:endParaRPr b="0" lang="en-CA" sz="2000" spc="-1" strike="noStrike">
              <a:solidFill>
                <a:srgbClr val="000000"/>
              </a:solidFill>
              <a:latin typeface="Arial"/>
            </a:endParaRPr>
          </a:p>
        </p:txBody>
      </p:sp>
      <p:sp>
        <p:nvSpPr>
          <p:cNvPr id="97" name="PlaceHolder 3"/>
          <p:cNvSpPr>
            <a:spLocks noGrp="1"/>
          </p:cNvSpPr>
          <p:nvPr>
            <p:ph type="sldNum" idx="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5716026-42AC-443B-A3ED-BE4BE24B00B1}"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sldImg"/>
          </p:nvPr>
        </p:nvSpPr>
        <p:spPr>
          <a:xfrm>
            <a:off x="1143000" y="685800"/>
            <a:ext cx="4571640" cy="3428640"/>
          </a:xfrm>
          <a:prstGeom prst="rect">
            <a:avLst/>
          </a:prstGeom>
          <a:ln w="0">
            <a:noFill/>
          </a:ln>
        </p:spPr>
      </p:sp>
      <p:sp>
        <p:nvSpPr>
          <p:cNvPr id="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When services communicate synchronously over REST, we create tight temporal coupling: Service A waits for Service B, which waits for Service C. If Service C stutters, the whole request fails.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This brings us to Event-Driven Architecture, illustrated in Diagram 2. Instead of synchronous RPC calls, the producer commits locally and publishes an immutable 'OrderPlaced' event to a message broker, returning immediately to the client.</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This delivers three critical benefits: traffic burst leveling, independent consumer evolution, and blast-radius containment.</a:t>
            </a:r>
            <a:endParaRPr b="0" lang="en-CA" sz="2000" spc="-1" strike="noStrike">
              <a:solidFill>
                <a:srgbClr val="000000"/>
              </a:solidFill>
              <a:latin typeface="Arial"/>
            </a:endParaRPr>
          </a:p>
        </p:txBody>
      </p:sp>
      <p:sp>
        <p:nvSpPr>
          <p:cNvPr id="100" name="PlaceHolder 3"/>
          <p:cNvSpPr>
            <a:spLocks noGrp="1"/>
          </p:cNvSpPr>
          <p:nvPr>
            <p:ph type="sldNum" idx="1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46F7161-0A7C-4895-934A-330D443F99FE}"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Img"/>
          </p:nvPr>
        </p:nvSpPr>
        <p:spPr>
          <a:xfrm>
            <a:off x="1143000" y="685800"/>
            <a:ext cx="4571640" cy="3428640"/>
          </a:xfrm>
          <a:prstGeom prst="rect">
            <a:avLst/>
          </a:prstGeom>
          <a:ln w="0">
            <a:noFill/>
          </a:ln>
        </p:spPr>
      </p:sp>
      <p:sp>
        <p:nvSpPr>
          <p:cNvPr id="1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However, we must be candid about the complexity tax EDA introduces. It is not free.</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First, we surrender immediate consistency. If a user updates their profile and refreshes, they may see stale data until consumers catch up.</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Second, message brokers use at-least-once delivery. Network retries mean duplicate events will arrive. Every consumer must implement idempotency keys and deduplication storage.</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Third, unhandled exceptions cause poison pills that halt partitions unless routed to a Dead-Letter Queue.</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You don't eliminate bugs in EDA; you trade synchronous errors for distributed telemetry challenges.</a:t>
            </a:r>
            <a:endParaRPr b="0" lang="en-CA" sz="2000" spc="-1" strike="noStrike">
              <a:solidFill>
                <a:srgbClr val="000000"/>
              </a:solidFill>
              <a:latin typeface="Arial"/>
            </a:endParaRPr>
          </a:p>
        </p:txBody>
      </p:sp>
      <p:sp>
        <p:nvSpPr>
          <p:cNvPr id="103" name="PlaceHolder 3"/>
          <p:cNvSpPr>
            <a:spLocks noGrp="1"/>
          </p:cNvSpPr>
          <p:nvPr>
            <p:ph type="sldNum" idx="1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4871362-96D9-449E-AD1A-8CC8C137958C}"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1143000" y="685800"/>
            <a:ext cx="4571640" cy="3428640"/>
          </a:xfrm>
          <a:prstGeom prst="rect">
            <a:avLst/>
          </a:prstGeom>
          <a:ln w="0">
            <a:noFill/>
          </a:ln>
        </p:spPr>
      </p:sp>
      <p:sp>
        <p:nvSpPr>
          <p:cNvPr id="1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CA" sz="2000" spc="-1" strike="noStrike">
                <a:solidFill>
                  <a:srgbClr val="000000"/>
                </a:solidFill>
                <a:latin typeface="Arial"/>
              </a:rPr>
              <a:t>To synthesize, here is the concrete heuristic I recommend:</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1. Default to a Modular Monolith: For early-stage products, keep the codebase unified. Optimize for fast refactoring, local developer experience, and simple operations.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2. Layer in EDA at the Seams: As traffic grows, introduce an asynchronous broker to handle slow side effects, webhooks, and bursty tasks. This provides decoupling without distributed microservice pain.</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3. Decompose Only Under Duress: Split into physical microservices only when organizational scaling forces it—meaning team communication bottlenecks exceed the technical overhead of operating distributed systems.</a:t>
            </a:r>
            <a:endParaRPr b="0" lang="en-CA" sz="2000" spc="-1" strike="noStrike">
              <a:solidFill>
                <a:srgbClr val="000000"/>
              </a:solidFill>
              <a:latin typeface="Arial"/>
            </a:endParaRPr>
          </a:p>
          <a:p>
            <a:pPr marL="216000" indent="0">
              <a:lnSpc>
                <a:spcPct val="100000"/>
              </a:lnSpc>
              <a:buNone/>
            </a:pPr>
            <a:endParaRPr b="0" lang="en-CA" sz="2000" spc="-1" strike="noStrike">
              <a:solidFill>
                <a:srgbClr val="000000"/>
              </a:solidFill>
              <a:latin typeface="Arial"/>
            </a:endParaRPr>
          </a:p>
          <a:p>
            <a:pPr marL="216000" indent="0">
              <a:lnSpc>
                <a:spcPct val="100000"/>
              </a:lnSpc>
              <a:buNone/>
            </a:pPr>
            <a:r>
              <a:rPr b="0" lang="en-CA" sz="2000" spc="-1" strike="noStrike">
                <a:solidFill>
                  <a:srgbClr val="000000"/>
                </a:solidFill>
                <a:latin typeface="Arial"/>
              </a:rPr>
              <a:t>Good architecture is not about building the most complex system on day one; it is about keeping the system simple enough to evolve as the business demands. Thank you.</a:t>
            </a:r>
            <a:endParaRPr b="0" lang="en-CA" sz="2000" spc="-1" strike="noStrike">
              <a:solidFill>
                <a:srgbClr val="000000"/>
              </a:solidFill>
              <a:latin typeface="Arial"/>
            </a:endParaRPr>
          </a:p>
        </p:txBody>
      </p:sp>
      <p:sp>
        <p:nvSpPr>
          <p:cNvPr id="106" name="PlaceHolder 3"/>
          <p:cNvSpPr>
            <a:spLocks noGrp="1"/>
          </p:cNvSpPr>
          <p:nvPr>
            <p:ph type="sldNum" idx="1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F1AB489-DC19-4EAA-9A3D-B2B675B2C49F}" type="slidenum">
              <a:rPr b="0" lang="en-US" sz="1200" spc="-1" strike="noStrike">
                <a:solidFill>
                  <a:srgbClr val="000000"/>
                </a:solidFill>
                <a:latin typeface="Times New Roman"/>
              </a:rPr>
              <a:t>&lt;number&gt;</a:t>
            </a:fld>
            <a:endParaRPr b="0" lang="en-CA"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8DE5E63-532E-4752-8961-F77A19BCD8AE}" type="slidenum">
              <a:t>&lt;#&gt;</a:t>
            </a:fld>
          </a:p>
        </p:txBody>
      </p:sp>
      <p:sp>
        <p:nvSpPr>
          <p:cNvPr id="4" name="PlaceHolder 3"/>
          <p:cNvSpPr>
            <a:spLocks noGrp="1"/>
          </p:cNvSpPr>
          <p:nvPr>
            <p:ph type="dt" idx="1"/>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CA"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D6C0006-A672-4C01-B407-925994AE33A2}" type="slidenum">
              <a:t>&lt;#&gt;</a:t>
            </a:fld>
          </a:p>
        </p:txBody>
      </p:sp>
      <p:sp>
        <p:nvSpPr>
          <p:cNvPr id="6" name="PlaceHolder 5"/>
          <p:cNvSpPr>
            <a:spLocks noGrp="1"/>
          </p:cNvSpPr>
          <p:nvPr>
            <p:ph type="dt" idx="1"/>
          </p:nvPr>
        </p:nvSpPr>
        <p:spPr/>
        <p:txBody>
          <a:bodyPr/>
          <a:p>
            <a:r>
              <a:rPr lang="en-CA"/>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616D3A6-9627-4003-9A20-2592F0CBDE2D}" type="slidenum">
              <a:t>&lt;#&gt;</a:t>
            </a:fld>
          </a:p>
        </p:txBody>
      </p:sp>
      <p:sp>
        <p:nvSpPr>
          <p:cNvPr id="6" name="PlaceHolder 5"/>
          <p:cNvSpPr>
            <a:spLocks noGrp="1"/>
          </p:cNvSpPr>
          <p:nvPr>
            <p:ph type="dt" idx="1"/>
          </p:nvPr>
        </p:nvSpPr>
        <p:spPr/>
        <p:txBody>
          <a:bodyPr/>
          <a:p>
            <a:r>
              <a:rPr lang="en-CA"/>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2570634-8F78-455E-8EC8-B8A30ADE877A}" type="slidenum">
              <a:t>&lt;#&gt;</a:t>
            </a:fld>
          </a:p>
        </p:txBody>
      </p:sp>
      <p:sp>
        <p:nvSpPr>
          <p:cNvPr id="7" name="PlaceHolder 6"/>
          <p:cNvSpPr>
            <a:spLocks noGrp="1"/>
          </p:cNvSpPr>
          <p:nvPr>
            <p:ph type="dt" idx="1"/>
          </p:nvPr>
        </p:nvSpPr>
        <p:spPr/>
        <p:txBody>
          <a:bodyPr/>
          <a:p>
            <a:r>
              <a:rPr lang="en-CA"/>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6BFEEAA-FCDE-46BD-AA5E-0E6A389C8A9C}" type="slidenum">
              <a:t>&lt;#&gt;</a:t>
            </a:fld>
          </a:p>
        </p:txBody>
      </p:sp>
      <p:sp>
        <p:nvSpPr>
          <p:cNvPr id="5" name="PlaceHolder 4"/>
          <p:cNvSpPr>
            <a:spLocks noGrp="1"/>
          </p:cNvSpPr>
          <p:nvPr>
            <p:ph type="dt" idx="1"/>
          </p:nvPr>
        </p:nvSpPr>
        <p:spPr/>
        <p:txBody>
          <a:bodyPr/>
          <a:p>
            <a:r>
              <a:rPr lang="en-CA"/>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080" cy="5307840"/>
          </a:xfrm>
          <a:prstGeom prst="rect">
            <a:avLst/>
          </a:prstGeom>
          <a:noFill/>
          <a:ln w="0">
            <a:noFill/>
          </a:ln>
        </p:spPr>
        <p:txBody>
          <a:bodyPr lIns="0" rIns="0" tIns="0" bIns="0" anchor="ctr">
            <a:noAutofit/>
          </a:bodyPr>
          <a:p>
            <a:pPr algn="ctr"/>
            <a:endParaRPr b="0" lang="en-CA"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8FDC1E9-2DED-4D76-A578-0F6FE9A093B4}" type="slidenum">
              <a:t>&lt;#&gt;</a:t>
            </a:fld>
          </a:p>
        </p:txBody>
      </p:sp>
      <p:sp>
        <p:nvSpPr>
          <p:cNvPr id="5" name="PlaceHolder 4"/>
          <p:cNvSpPr>
            <a:spLocks noGrp="1"/>
          </p:cNvSpPr>
          <p:nvPr>
            <p:ph type="dt" idx="1"/>
          </p:nvPr>
        </p:nvSpPr>
        <p:spPr/>
        <p:txBody>
          <a:bodyPr/>
          <a:p>
            <a:r>
              <a:rPr lang="en-CA"/>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4667046-AE0B-4366-BB86-DD83D2B6CD6A}" type="slidenum">
              <a:t>&lt;#&gt;</a:t>
            </a:fld>
          </a:p>
        </p:txBody>
      </p:sp>
      <p:sp>
        <p:nvSpPr>
          <p:cNvPr id="8" name="PlaceHolder 7"/>
          <p:cNvSpPr>
            <a:spLocks noGrp="1"/>
          </p:cNvSpPr>
          <p:nvPr>
            <p:ph type="dt" idx="1"/>
          </p:nvPr>
        </p:nvSpPr>
        <p:spPr/>
        <p:txBody>
          <a:bodyPr/>
          <a:p>
            <a:r>
              <a:rPr lang="en-CA"/>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11B80DE-A6CB-4944-BBC8-10ADB39B9F48}" type="slidenum">
              <a:t>&lt;#&gt;</a:t>
            </a:fld>
          </a:p>
        </p:txBody>
      </p:sp>
      <p:sp>
        <p:nvSpPr>
          <p:cNvPr id="8" name="PlaceHolder 7"/>
          <p:cNvSpPr>
            <a:spLocks noGrp="1"/>
          </p:cNvSpPr>
          <p:nvPr>
            <p:ph type="dt" idx="1"/>
          </p:nvPr>
        </p:nvSpPr>
        <p:spPr/>
        <p:txBody>
          <a:bodyPr/>
          <a:p>
            <a:r>
              <a:rPr lang="en-CA"/>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4"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207082F-17C6-4EEE-AEAC-B0C016A8AFC3}" type="slidenum">
              <a:t>&lt;#&gt;</a:t>
            </a:fld>
          </a:p>
        </p:txBody>
      </p:sp>
      <p:sp>
        <p:nvSpPr>
          <p:cNvPr id="8" name="PlaceHolder 7"/>
          <p:cNvSpPr>
            <a:spLocks noGrp="1"/>
          </p:cNvSpPr>
          <p:nvPr>
            <p:ph type="dt" idx="1"/>
          </p:nvPr>
        </p:nvSpPr>
        <p:spPr/>
        <p:txBody>
          <a:bodyPr/>
          <a:p>
            <a:r>
              <a:rPr lang="en-CA"/>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6"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7"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E086C78-91F4-4298-A9C5-E561B536A9A9}" type="slidenum">
              <a:t>&lt;#&gt;</a:t>
            </a:fld>
          </a:p>
        </p:txBody>
      </p:sp>
      <p:sp>
        <p:nvSpPr>
          <p:cNvPr id="7" name="PlaceHolder 6"/>
          <p:cNvSpPr>
            <a:spLocks noGrp="1"/>
          </p:cNvSpPr>
          <p:nvPr>
            <p:ph type="dt" idx="1"/>
          </p:nvPr>
        </p:nvSpPr>
        <p:spPr/>
        <p:txBody>
          <a:bodyPr/>
          <a:p>
            <a:r>
              <a:rPr lang="en-CA"/>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164AA45-CB8F-4423-A478-75C8DEEC191E}" type="slidenum">
              <a:t>&lt;#&gt;</a:t>
            </a:fld>
          </a:p>
        </p:txBody>
      </p:sp>
      <p:sp>
        <p:nvSpPr>
          <p:cNvPr id="9" name="PlaceHolder 8"/>
          <p:cNvSpPr>
            <a:spLocks noGrp="1"/>
          </p:cNvSpPr>
          <p:nvPr>
            <p:ph type="dt" idx="1"/>
          </p:nvPr>
        </p:nvSpPr>
        <p:spPr/>
        <p:txBody>
          <a:bodyPr/>
          <a:p>
            <a:r>
              <a:rPr lang="en-CA"/>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4"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5"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7"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8"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9"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3E63011F-A6EA-48A3-BCCB-7D136A5C6B31}" type="slidenum">
              <a:t>&lt;#&gt;</a:t>
            </a:fld>
          </a:p>
        </p:txBody>
      </p:sp>
      <p:sp>
        <p:nvSpPr>
          <p:cNvPr id="11" name="PlaceHolder 10"/>
          <p:cNvSpPr>
            <a:spLocks noGrp="1"/>
          </p:cNvSpPr>
          <p:nvPr>
            <p:ph type="dt" idx="1"/>
          </p:nvPr>
        </p:nvSpPr>
        <p:spPr/>
        <p:txBody>
          <a:bodyPr/>
          <a:p>
            <a:r>
              <a:rPr lang="en-CA"/>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CA"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CA" sz="1400" spc="-1" strike="noStrike">
                <a:solidFill>
                  <a:srgbClr val="000000"/>
                </a:solidFill>
                <a:latin typeface="Times New Roman"/>
              </a:defRPr>
            </a:lvl1pPr>
          </a:lstStyle>
          <a:p>
            <a:pPr indent="0" algn="ctr">
              <a:buNone/>
            </a:pPr>
            <a:r>
              <a:rPr b="0" lang="en-CA" sz="1400" spc="-1" strike="noStrike">
                <a:solidFill>
                  <a:srgbClr val="000000"/>
                </a:solidFill>
                <a:latin typeface="Times New Roman"/>
              </a:rPr>
              <a:t>&lt;footer&gt;</a:t>
            </a:r>
            <a:endParaRPr b="0" lang="en-CA"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B68C6B6-35A5-4BCD-A814-598C965F4011}" type="slidenum">
              <a:rPr b="0" lang="en-US" sz="1200" spc="-1" strike="noStrike">
                <a:solidFill>
                  <a:schemeClr val="dk1">
                    <a:tint val="75000"/>
                  </a:schemeClr>
                </a:solidFill>
                <a:latin typeface="Calibri"/>
              </a:rPr>
              <a:t>&lt;number&gt;</a:t>
            </a:fld>
            <a:endParaRPr b="0" lang="en-CA"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46" name="Rounded Rectangle 1"/>
          <p:cNvSpPr/>
          <p:nvPr/>
        </p:nvSpPr>
        <p:spPr>
          <a:xfrm>
            <a:off x="1371600" y="914400"/>
            <a:ext cx="9445320" cy="5303160"/>
          </a:xfrm>
          <a:prstGeom prst="roundRect">
            <a:avLst>
              <a:gd name="adj" fmla="val 16667"/>
            </a:avLst>
          </a:prstGeom>
          <a:solidFill>
            <a:srgbClr val="ffffff"/>
          </a:solidFill>
          <a:ln w="381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 name="Rectangle 2"/>
          <p:cNvSpPr/>
          <p:nvPr/>
        </p:nvSpPr>
        <p:spPr>
          <a:xfrm>
            <a:off x="4754880" y="685800"/>
            <a:ext cx="2742840" cy="502560"/>
          </a:xfrm>
          <a:prstGeom prst="rect">
            <a:avLst/>
          </a:prstGeom>
          <a:solidFill>
            <a:srgbClr val="d6d3ce"/>
          </a:solidFill>
          <a:ln w="317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 name="TextBox 3"/>
          <p:cNvSpPr/>
          <p:nvPr/>
        </p:nvSpPr>
        <p:spPr>
          <a:xfrm>
            <a:off x="1828800" y="1828800"/>
            <a:ext cx="8503560" cy="2970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600" spc="-1" strike="noStrike">
                <a:solidFill>
                  <a:srgbClr val="be1818"/>
                </a:solidFill>
                <a:latin typeface="Century Gothic"/>
              </a:rPr>
              <a:t>Evolving System Architecture</a:t>
            </a:r>
            <a:endParaRPr b="0" lang="en-CA" sz="4600" spc="-1" strike="noStrike">
              <a:solidFill>
                <a:srgbClr val="000000"/>
              </a:solidFill>
              <a:latin typeface="Arial"/>
            </a:endParaRPr>
          </a:p>
          <a:p>
            <a:pPr defTabSz="457200">
              <a:lnSpc>
                <a:spcPct val="100000"/>
              </a:lnSpc>
              <a:spcBef>
                <a:spcPts val="1400"/>
              </a:spcBef>
            </a:pPr>
            <a:r>
              <a:rPr b="1" lang="en-US" sz="2600" spc="-1" strike="noStrike">
                <a:solidFill>
                  <a:srgbClr val="1c1917"/>
                </a:solidFill>
                <a:latin typeface="Century Gothic"/>
              </a:rPr>
              <a:t>Monoliths, Microservices &amp; Event-Driven Decoupling</a:t>
            </a:r>
            <a:endParaRPr b="0" lang="en-CA" sz="2600" spc="-1" strike="noStrike">
              <a:solidFill>
                <a:srgbClr val="000000"/>
              </a:solidFill>
              <a:latin typeface="Arial"/>
            </a:endParaRPr>
          </a:p>
          <a:p>
            <a:pPr defTabSz="457200">
              <a:lnSpc>
                <a:spcPct val="100000"/>
              </a:lnSpc>
              <a:spcBef>
                <a:spcPts val="1599"/>
              </a:spcBef>
            </a:pPr>
            <a:r>
              <a:rPr b="0" lang="en-US" sz="2000" spc="-1" strike="noStrike">
                <a:solidFill>
                  <a:srgbClr val="57534e"/>
                </a:solidFill>
                <a:latin typeface="Century Gothic"/>
              </a:rPr>
              <a:t>A Pragmatic Trade-Off Defense for Architectural Review Boards</a:t>
            </a:r>
            <a:endParaRPr b="0" lang="en-CA"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49" name="TextBox 1"/>
          <p:cNvSpPr/>
          <p:nvPr/>
        </p:nvSpPr>
        <p:spPr>
          <a:xfrm>
            <a:off x="3250800" y="228600"/>
            <a:ext cx="54766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1800" spc="-1" strike="noStrike">
                <a:solidFill>
                  <a:srgbClr val="be1818"/>
                </a:solidFill>
                <a:latin typeface="Century Gothic"/>
              </a:rPr>
              <a:t>★ </a:t>
            </a:r>
            <a:r>
              <a:rPr b="1" lang="en-US" sz="1800" spc="-1" strike="noStrike">
                <a:solidFill>
                  <a:srgbClr val="be1818"/>
                </a:solidFill>
                <a:latin typeface="Century Gothic"/>
              </a:rPr>
              <a:t>SECTION 1: ARCHITECTURE TOPOLOGIES</a:t>
            </a:r>
            <a:endParaRPr b="0" lang="en-CA" sz="1800" spc="-1" strike="noStrike">
              <a:solidFill>
                <a:srgbClr val="000000"/>
              </a:solidFill>
              <a:latin typeface="Arial"/>
            </a:endParaRPr>
          </a:p>
        </p:txBody>
      </p:sp>
      <p:sp>
        <p:nvSpPr>
          <p:cNvPr id="50" name="TextBox 2"/>
          <p:cNvSpPr/>
          <p:nvPr/>
        </p:nvSpPr>
        <p:spPr>
          <a:xfrm>
            <a:off x="487800" y="594360"/>
            <a:ext cx="11277360" cy="4881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3200" spc="-1" strike="noStrike">
                <a:solidFill>
                  <a:srgbClr val="1c1917"/>
                </a:solidFill>
                <a:latin typeface="Century Gothic"/>
              </a:rPr>
              <a:t>Structural Mechanics: Monolith vs. Microservices</a:t>
            </a:r>
            <a:endParaRPr b="0" lang="en-CA" sz="3200" spc="-1" strike="noStrike">
              <a:solidFill>
                <a:srgbClr val="000000"/>
              </a:solidFill>
              <a:latin typeface="Arial"/>
            </a:endParaRPr>
          </a:p>
        </p:txBody>
      </p:sp>
      <p:sp>
        <p:nvSpPr>
          <p:cNvPr id="51" name="Rounded Rectangle 3"/>
          <p:cNvSpPr/>
          <p:nvPr/>
        </p:nvSpPr>
        <p:spPr>
          <a:xfrm>
            <a:off x="731520" y="1371600"/>
            <a:ext cx="5120280" cy="4937400"/>
          </a:xfrm>
          <a:prstGeom prst="roundRect">
            <a:avLst>
              <a:gd name="adj" fmla="val 16667"/>
            </a:avLst>
          </a:prstGeom>
          <a:solidFill>
            <a:srgbClr val="ffffff"/>
          </a:solidFill>
          <a:ln w="317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28600" bIns="45000" anchor="ctr">
            <a:noAutofit/>
          </a:bodyPr>
          <a:p>
            <a:pPr algn="ctr" defTabSz="457200">
              <a:lnSpc>
                <a:spcPct val="100000"/>
              </a:lnSpc>
            </a:pPr>
            <a:r>
              <a:rPr b="1" lang="en-US" sz="2200" spc="-1" strike="noStrike">
                <a:solidFill>
                  <a:srgbClr val="be1818"/>
                </a:solidFill>
                <a:latin typeface="Century Gothic"/>
              </a:rPr>
              <a:t>Modular Monolith (In-Memory)</a:t>
            </a:r>
            <a:endParaRPr b="0" lang="en-CA" sz="2200" spc="-1" strike="noStrike">
              <a:solidFill>
                <a:srgbClr val="000000"/>
              </a:solidFill>
              <a:latin typeface="Arial"/>
            </a:endParaRPr>
          </a:p>
        </p:txBody>
      </p:sp>
      <p:sp>
        <p:nvSpPr>
          <p:cNvPr id="52" name="Rectangle 4"/>
          <p:cNvSpPr/>
          <p:nvPr/>
        </p:nvSpPr>
        <p:spPr>
          <a:xfrm>
            <a:off x="1008360" y="1620000"/>
            <a:ext cx="4571640" cy="594000"/>
          </a:xfrm>
          <a:prstGeom prst="rect">
            <a:avLst/>
          </a:prstGeom>
          <a:solidFill>
            <a:srgbClr val="faf6ee"/>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600" spc="-1" strike="noStrike">
                <a:solidFill>
                  <a:srgbClr val="1c1917"/>
                </a:solidFill>
                <a:latin typeface="Century Gothic"/>
              </a:rPr>
              <a:t>Auth Module ── (In-Memory ns) ── Order Module</a:t>
            </a:r>
            <a:endParaRPr b="0" lang="en-CA" sz="1600" spc="-1" strike="noStrike">
              <a:solidFill>
                <a:srgbClr val="000000"/>
              </a:solidFill>
              <a:latin typeface="Arial"/>
            </a:endParaRPr>
          </a:p>
        </p:txBody>
      </p:sp>
      <p:sp>
        <p:nvSpPr>
          <p:cNvPr id="53" name="Can 5"/>
          <p:cNvSpPr/>
          <p:nvPr/>
        </p:nvSpPr>
        <p:spPr>
          <a:xfrm>
            <a:off x="1631160" y="2520000"/>
            <a:ext cx="3291480" cy="914040"/>
          </a:xfrm>
          <a:prstGeom prst="can">
            <a:avLst>
              <a:gd name="adj" fmla="val 25000"/>
            </a:avLst>
          </a:prstGeom>
          <a:solidFill>
            <a:srgbClr val="fef3c7"/>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600" spc="-1" strike="noStrike">
                <a:solidFill>
                  <a:srgbClr val="1c1917"/>
                </a:solidFill>
                <a:latin typeface="Century Gothic"/>
              </a:rPr>
              <a:t>Unified Relational DB (ACID Locks)</a:t>
            </a:r>
            <a:endParaRPr b="0" lang="en-CA" sz="1600" spc="-1" strike="noStrike">
              <a:solidFill>
                <a:srgbClr val="000000"/>
              </a:solidFill>
              <a:latin typeface="Arial"/>
            </a:endParaRPr>
          </a:p>
        </p:txBody>
      </p:sp>
      <p:sp>
        <p:nvSpPr>
          <p:cNvPr id="54" name="TextBox 6"/>
          <p:cNvSpPr/>
          <p:nvPr/>
        </p:nvSpPr>
        <p:spPr>
          <a:xfrm>
            <a:off x="914400" y="4224960"/>
            <a:ext cx="4754520" cy="1826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900" spc="-1" strike="noStrike">
                <a:solidFill>
                  <a:srgbClr val="1c1917"/>
                </a:solidFill>
                <a:latin typeface="Century Gothic"/>
              </a:rPr>
              <a:t>• </a:t>
            </a:r>
            <a:r>
              <a:rPr b="0" lang="en-US" sz="1900" spc="-1" strike="noStrike">
                <a:solidFill>
                  <a:srgbClr val="1c1917"/>
                </a:solidFill>
                <a:latin typeface="Century Gothic"/>
              </a:rPr>
              <a:t>Boundary: Code packages &amp; memory</a:t>
            </a:r>
            <a:br>
              <a:rPr sz="1900"/>
            </a:br>
            <a:r>
              <a:rPr b="0" lang="en-US" sz="1900" spc="-1" strike="noStrike">
                <a:solidFill>
                  <a:srgbClr val="1c1917"/>
                </a:solidFill>
                <a:latin typeface="Century Gothic"/>
              </a:rPr>
              <a:t>• Communication: Method calls (ns latency)</a:t>
            </a:r>
            <a:br>
              <a:rPr sz="1900"/>
            </a:br>
            <a:r>
              <a:rPr b="0" lang="en-US" sz="1900" spc="-1" strike="noStrike">
                <a:solidFill>
                  <a:srgbClr val="1c1917"/>
                </a:solidFill>
                <a:latin typeface="Century Gothic"/>
              </a:rPr>
              <a:t>• Deployment: Single CI/CD release unit</a:t>
            </a:r>
            <a:endParaRPr b="0" lang="en-CA" sz="1900" spc="-1" strike="noStrike">
              <a:solidFill>
                <a:srgbClr val="000000"/>
              </a:solidFill>
              <a:latin typeface="Arial"/>
            </a:endParaRPr>
          </a:p>
        </p:txBody>
      </p:sp>
      <p:sp>
        <p:nvSpPr>
          <p:cNvPr id="55" name="Rounded Rectangle 7"/>
          <p:cNvSpPr/>
          <p:nvPr/>
        </p:nvSpPr>
        <p:spPr>
          <a:xfrm>
            <a:off x="6309360" y="1371600"/>
            <a:ext cx="5120280" cy="4937400"/>
          </a:xfrm>
          <a:prstGeom prst="roundRect">
            <a:avLst>
              <a:gd name="adj" fmla="val 16667"/>
            </a:avLst>
          </a:prstGeom>
          <a:solidFill>
            <a:srgbClr val="ffffff"/>
          </a:solidFill>
          <a:ln w="317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28600" bIns="45000" anchor="ctr">
            <a:noAutofit/>
          </a:bodyPr>
          <a:p>
            <a:pPr algn="ctr" defTabSz="457200">
              <a:lnSpc>
                <a:spcPct val="100000"/>
              </a:lnSpc>
            </a:pPr>
            <a:r>
              <a:rPr b="1" lang="en-US" sz="2200" spc="-1" strike="noStrike">
                <a:solidFill>
                  <a:srgbClr val="0d9488"/>
                </a:solidFill>
                <a:latin typeface="Century Gothic"/>
              </a:rPr>
              <a:t>Microservices (Network Bound)</a:t>
            </a:r>
            <a:endParaRPr b="0" lang="en-CA" sz="2200" spc="-1" strike="noStrike">
              <a:solidFill>
                <a:srgbClr val="000000"/>
              </a:solidFill>
              <a:latin typeface="Arial"/>
            </a:endParaRPr>
          </a:p>
        </p:txBody>
      </p:sp>
      <p:sp>
        <p:nvSpPr>
          <p:cNvPr id="56" name="Rectangle 8"/>
          <p:cNvSpPr/>
          <p:nvPr/>
        </p:nvSpPr>
        <p:spPr>
          <a:xfrm>
            <a:off x="6588360" y="1657440"/>
            <a:ext cx="4571640" cy="502560"/>
          </a:xfrm>
          <a:prstGeom prst="rect">
            <a:avLst/>
          </a:prstGeom>
          <a:solidFill>
            <a:srgbClr val="faf6ee"/>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600" spc="-1" strike="noStrike">
                <a:solidFill>
                  <a:srgbClr val="1c1917"/>
                </a:solidFill>
                <a:latin typeface="Century Gothic"/>
              </a:rPr>
              <a:t>API Gateway (HTTPS / Ingress Router)</a:t>
            </a:r>
            <a:endParaRPr b="0" lang="en-CA" sz="1600" spc="-1" strike="noStrike">
              <a:solidFill>
                <a:srgbClr val="000000"/>
              </a:solidFill>
              <a:latin typeface="Arial"/>
            </a:endParaRPr>
          </a:p>
        </p:txBody>
      </p:sp>
      <p:sp>
        <p:nvSpPr>
          <p:cNvPr id="57" name="Rectangle 9"/>
          <p:cNvSpPr/>
          <p:nvPr/>
        </p:nvSpPr>
        <p:spPr>
          <a:xfrm>
            <a:off x="6583680" y="2331720"/>
            <a:ext cx="1371240" cy="548280"/>
          </a:xfrm>
          <a:prstGeom prst="rect">
            <a:avLst/>
          </a:prstGeom>
          <a:solidFill>
            <a:srgbClr val="ffffff"/>
          </a:solidFill>
          <a:ln w="1905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500" spc="-1" strike="noStrike">
                <a:solidFill>
                  <a:srgbClr val="1c1917"/>
                </a:solidFill>
                <a:latin typeface="Century Gothic"/>
              </a:rPr>
              <a:t>Auth Svc</a:t>
            </a:r>
            <a:endParaRPr b="0" lang="en-CA" sz="1500" spc="-1" strike="noStrike">
              <a:solidFill>
                <a:srgbClr val="000000"/>
              </a:solidFill>
              <a:latin typeface="Arial"/>
            </a:endParaRPr>
          </a:p>
        </p:txBody>
      </p:sp>
      <p:sp>
        <p:nvSpPr>
          <p:cNvPr id="58" name="Can 10"/>
          <p:cNvSpPr/>
          <p:nvPr/>
        </p:nvSpPr>
        <p:spPr>
          <a:xfrm>
            <a:off x="6583680" y="3060000"/>
            <a:ext cx="1371240" cy="502560"/>
          </a:xfrm>
          <a:prstGeom prst="can">
            <a:avLst>
              <a:gd name="adj" fmla="val 25000"/>
            </a:avLst>
          </a:prstGeom>
          <a:solidFill>
            <a:srgbClr val="ccfbf1"/>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400" spc="-1" strike="noStrike">
                <a:solidFill>
                  <a:srgbClr val="1c1917"/>
                </a:solidFill>
                <a:latin typeface="Century Gothic"/>
              </a:rPr>
              <a:t>DB 1</a:t>
            </a:r>
            <a:endParaRPr b="0" lang="en-CA" sz="1400" spc="-1" strike="noStrike">
              <a:solidFill>
                <a:srgbClr val="000000"/>
              </a:solidFill>
              <a:latin typeface="Arial"/>
            </a:endParaRPr>
          </a:p>
        </p:txBody>
      </p:sp>
      <p:sp>
        <p:nvSpPr>
          <p:cNvPr id="59" name="Rectangle 11"/>
          <p:cNvSpPr/>
          <p:nvPr/>
        </p:nvSpPr>
        <p:spPr>
          <a:xfrm>
            <a:off x="8168760" y="2331720"/>
            <a:ext cx="1371240" cy="548280"/>
          </a:xfrm>
          <a:prstGeom prst="rect">
            <a:avLst/>
          </a:prstGeom>
          <a:solidFill>
            <a:srgbClr val="ffffff"/>
          </a:solidFill>
          <a:ln w="1905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500" spc="-1" strike="noStrike">
                <a:solidFill>
                  <a:srgbClr val="1c1917"/>
                </a:solidFill>
                <a:latin typeface="Century Gothic"/>
              </a:rPr>
              <a:t>Order Svc</a:t>
            </a:r>
            <a:endParaRPr b="0" lang="en-CA" sz="1500" spc="-1" strike="noStrike">
              <a:solidFill>
                <a:srgbClr val="000000"/>
              </a:solidFill>
              <a:latin typeface="Arial"/>
            </a:endParaRPr>
          </a:p>
        </p:txBody>
      </p:sp>
      <p:sp>
        <p:nvSpPr>
          <p:cNvPr id="60" name="Can 12"/>
          <p:cNvSpPr/>
          <p:nvPr/>
        </p:nvSpPr>
        <p:spPr>
          <a:xfrm>
            <a:off x="8168760" y="3060000"/>
            <a:ext cx="1371240" cy="502560"/>
          </a:xfrm>
          <a:prstGeom prst="can">
            <a:avLst>
              <a:gd name="adj" fmla="val 25000"/>
            </a:avLst>
          </a:prstGeom>
          <a:solidFill>
            <a:srgbClr val="ccfbf1"/>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400" spc="-1" strike="noStrike">
                <a:solidFill>
                  <a:srgbClr val="1c1917"/>
                </a:solidFill>
                <a:latin typeface="Century Gothic"/>
              </a:rPr>
              <a:t>DB 2</a:t>
            </a:r>
            <a:endParaRPr b="0" lang="en-CA" sz="1400" spc="-1" strike="noStrike">
              <a:solidFill>
                <a:srgbClr val="000000"/>
              </a:solidFill>
              <a:latin typeface="Arial"/>
            </a:endParaRPr>
          </a:p>
        </p:txBody>
      </p:sp>
      <p:sp>
        <p:nvSpPr>
          <p:cNvPr id="61" name="Rectangle 13"/>
          <p:cNvSpPr/>
          <p:nvPr/>
        </p:nvSpPr>
        <p:spPr>
          <a:xfrm>
            <a:off x="9692640" y="2331720"/>
            <a:ext cx="1371240" cy="548280"/>
          </a:xfrm>
          <a:prstGeom prst="rect">
            <a:avLst/>
          </a:prstGeom>
          <a:solidFill>
            <a:srgbClr val="ffffff"/>
          </a:solidFill>
          <a:ln w="1905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500" spc="-1" strike="noStrike">
                <a:solidFill>
                  <a:srgbClr val="1c1917"/>
                </a:solidFill>
                <a:latin typeface="Century Gothic"/>
              </a:rPr>
              <a:t>Bill Svc</a:t>
            </a:r>
            <a:endParaRPr b="0" lang="en-CA" sz="1500" spc="-1" strike="noStrike">
              <a:solidFill>
                <a:srgbClr val="000000"/>
              </a:solidFill>
              <a:latin typeface="Arial"/>
            </a:endParaRPr>
          </a:p>
        </p:txBody>
      </p:sp>
      <p:sp>
        <p:nvSpPr>
          <p:cNvPr id="62" name="Can 14"/>
          <p:cNvSpPr/>
          <p:nvPr/>
        </p:nvSpPr>
        <p:spPr>
          <a:xfrm>
            <a:off x="9720000" y="3060000"/>
            <a:ext cx="1371240" cy="502560"/>
          </a:xfrm>
          <a:prstGeom prst="can">
            <a:avLst>
              <a:gd name="adj" fmla="val 25000"/>
            </a:avLst>
          </a:prstGeom>
          <a:solidFill>
            <a:srgbClr val="ccfbf1"/>
          </a:solidFill>
          <a:ln w="1905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400" spc="-1" strike="noStrike">
                <a:solidFill>
                  <a:srgbClr val="1c1917"/>
                </a:solidFill>
                <a:latin typeface="Century Gothic"/>
              </a:rPr>
              <a:t>DB 3</a:t>
            </a:r>
            <a:endParaRPr b="0" lang="en-CA" sz="1400" spc="-1" strike="noStrike">
              <a:solidFill>
                <a:srgbClr val="000000"/>
              </a:solidFill>
              <a:latin typeface="Arial"/>
            </a:endParaRPr>
          </a:p>
        </p:txBody>
      </p:sp>
      <p:sp>
        <p:nvSpPr>
          <p:cNvPr id="63" name="TextBox 15"/>
          <p:cNvSpPr/>
          <p:nvPr/>
        </p:nvSpPr>
        <p:spPr>
          <a:xfrm>
            <a:off x="6492240" y="4223160"/>
            <a:ext cx="4754520" cy="153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900" spc="-1" strike="noStrike">
                <a:solidFill>
                  <a:srgbClr val="1c1917"/>
                </a:solidFill>
                <a:latin typeface="Century Gothic"/>
              </a:rPr>
              <a:t>• </a:t>
            </a:r>
            <a:r>
              <a:rPr b="0" lang="en-US" sz="1900" spc="-1" strike="noStrike">
                <a:solidFill>
                  <a:srgbClr val="1c1917"/>
                </a:solidFill>
                <a:latin typeface="Century Gothic"/>
              </a:rPr>
              <a:t>Boundary: Network isolation</a:t>
            </a:r>
            <a:br>
              <a:rPr sz="1900"/>
            </a:br>
            <a:r>
              <a:rPr b="0" lang="en-US" sz="1900" spc="-1" strike="noStrike">
                <a:solidFill>
                  <a:srgbClr val="1c1917"/>
                </a:solidFill>
                <a:latin typeface="Century Gothic"/>
              </a:rPr>
              <a:t>• Communication: gRPC / REST (ms latency)</a:t>
            </a:r>
            <a:br>
              <a:rPr sz="1900"/>
            </a:br>
            <a:r>
              <a:rPr b="0" lang="en-US" sz="1900" spc="-1" strike="noStrike">
                <a:solidFill>
                  <a:srgbClr val="1c1917"/>
                </a:solidFill>
                <a:latin typeface="Century Gothic"/>
              </a:rPr>
              <a:t>• Deployment: Independent polyglot pipelines</a:t>
            </a:r>
            <a:endParaRPr b="0" lang="en-CA"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64" name="TextBox 1"/>
          <p:cNvSpPr/>
          <p:nvPr/>
        </p:nvSpPr>
        <p:spPr>
          <a:xfrm>
            <a:off x="3733200" y="228600"/>
            <a:ext cx="45118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1800" spc="-1" strike="noStrike">
                <a:solidFill>
                  <a:srgbClr val="be1818"/>
                </a:solidFill>
                <a:latin typeface="Century Gothic"/>
              </a:rPr>
              <a:t>★ </a:t>
            </a:r>
            <a:r>
              <a:rPr b="1" lang="en-US" sz="1800" spc="-1" strike="noStrike">
                <a:solidFill>
                  <a:srgbClr val="be1818"/>
                </a:solidFill>
                <a:latin typeface="Century Gothic"/>
              </a:rPr>
              <a:t>SECTION 1: TRADE-OFF DEFENSE</a:t>
            </a:r>
            <a:endParaRPr b="0" lang="en-CA" sz="1800" spc="-1" strike="noStrike">
              <a:solidFill>
                <a:srgbClr val="000000"/>
              </a:solidFill>
              <a:latin typeface="Arial"/>
            </a:endParaRPr>
          </a:p>
        </p:txBody>
      </p:sp>
      <p:sp>
        <p:nvSpPr>
          <p:cNvPr id="65" name="TextBox 2"/>
          <p:cNvSpPr/>
          <p:nvPr/>
        </p:nvSpPr>
        <p:spPr>
          <a:xfrm>
            <a:off x="2193120" y="594360"/>
            <a:ext cx="7866360" cy="4881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3200" spc="-1" strike="noStrike">
                <a:solidFill>
                  <a:srgbClr val="1c1917"/>
                </a:solidFill>
                <a:latin typeface="Century Gothic"/>
              </a:rPr>
              <a:t>The Architectural Trade-Off Matrix</a:t>
            </a:r>
            <a:endParaRPr b="0" lang="en-CA" sz="3200" spc="-1" strike="noStrike">
              <a:solidFill>
                <a:srgbClr val="000000"/>
              </a:solidFill>
              <a:latin typeface="Arial"/>
            </a:endParaRPr>
          </a:p>
        </p:txBody>
      </p:sp>
      <p:graphicFrame>
        <p:nvGraphicFramePr>
          <p:cNvPr id="66" name="Table 3"/>
          <p:cNvGraphicFramePr/>
          <p:nvPr/>
        </p:nvGraphicFramePr>
        <p:xfrm>
          <a:off x="731520" y="1371600"/>
          <a:ext cx="10698120" cy="4845960"/>
        </p:xfrm>
        <a:graphic>
          <a:graphicData uri="http://schemas.openxmlformats.org/drawingml/2006/table">
            <a:tbl>
              <a:tblPr/>
              <a:tblGrid>
                <a:gridCol w="2468880"/>
                <a:gridCol w="4114800"/>
                <a:gridCol w="4114800"/>
              </a:tblGrid>
              <a:tr h="1211400">
                <a:tc>
                  <a:txBody>
                    <a:bodyPr anchor="t">
                      <a:noAutofit/>
                    </a:bodyPr>
                    <a:p>
                      <a:pPr defTabSz="457200">
                        <a:lnSpc>
                          <a:spcPct val="100000"/>
                        </a:lnSpc>
                      </a:pPr>
                      <a:r>
                        <a:rPr b="1" lang="en-US" sz="2100" spc="-1" strike="noStrike">
                          <a:solidFill>
                            <a:srgbClr val="ffffff"/>
                          </a:solidFill>
                          <a:latin typeface="Century Gothic"/>
                        </a:rPr>
                        <a:t>Vector</a:t>
                      </a:r>
                      <a:endParaRPr b="0" lang="en-CA" sz="2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c1917"/>
                    </a:solidFill>
                  </a:tcPr>
                </a:tc>
                <a:tc>
                  <a:txBody>
                    <a:bodyPr anchor="t">
                      <a:noAutofit/>
                    </a:bodyPr>
                    <a:p>
                      <a:pPr defTabSz="457200">
                        <a:lnSpc>
                          <a:spcPct val="100000"/>
                        </a:lnSpc>
                      </a:pPr>
                      <a:r>
                        <a:rPr b="1" lang="en-US" sz="2100" spc="-1" strike="noStrike">
                          <a:solidFill>
                            <a:srgbClr val="ffffff"/>
                          </a:solidFill>
                          <a:latin typeface="Century Gothic"/>
                        </a:rPr>
                        <a:t>Monolith Advantage</a:t>
                      </a:r>
                      <a:endParaRPr b="0" lang="en-CA" sz="2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c1917"/>
                    </a:solidFill>
                  </a:tcPr>
                </a:tc>
                <a:tc>
                  <a:txBody>
                    <a:bodyPr anchor="t">
                      <a:noAutofit/>
                    </a:bodyPr>
                    <a:p>
                      <a:pPr defTabSz="457200">
                        <a:lnSpc>
                          <a:spcPct val="100000"/>
                        </a:lnSpc>
                      </a:pPr>
                      <a:r>
                        <a:rPr b="1" lang="en-US" sz="2100" spc="-1" strike="noStrike">
                          <a:solidFill>
                            <a:srgbClr val="ffffff"/>
                          </a:solidFill>
                          <a:latin typeface="Century Gothic"/>
                        </a:rPr>
                        <a:t>Microservices Justification</a:t>
                      </a:r>
                      <a:endParaRPr b="0" lang="en-CA" sz="2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c1917"/>
                    </a:solidFill>
                  </a:tcPr>
                </a:tc>
              </a:tr>
              <a:tr h="1211400">
                <a:tc>
                  <a:txBody>
                    <a:bodyPr anchor="t">
                      <a:noAutofit/>
                    </a:bodyPr>
                    <a:p>
                      <a:pPr defTabSz="457200">
                        <a:lnSpc>
                          <a:spcPct val="100000"/>
                        </a:lnSpc>
                      </a:pPr>
                      <a:r>
                        <a:rPr b="1" lang="en-US" sz="1800" spc="-1" strike="noStrike">
                          <a:solidFill>
                            <a:srgbClr val="be1818"/>
                          </a:solidFill>
                          <a:latin typeface="Century Gothic"/>
                        </a:rPr>
                        <a:t>Network &amp; Latency</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In-memory calls (ns). Zero network timeouts or serialization penalties.</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Justified only when services require edge deployment or isolated hardware.</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1211400">
                <a:tc>
                  <a:txBody>
                    <a:bodyPr anchor="t">
                      <a:noAutofit/>
                    </a:bodyPr>
                    <a:p>
                      <a:pPr defTabSz="457200">
                        <a:lnSpc>
                          <a:spcPct val="100000"/>
                        </a:lnSpc>
                      </a:pPr>
                      <a:r>
                        <a:rPr b="1" lang="en-US" sz="1800" spc="-1" strike="noStrike">
                          <a:solidFill>
                            <a:srgbClr val="be1818"/>
                          </a:solidFill>
                          <a:latin typeface="Century Gothic"/>
                        </a:rPr>
                        <a:t>Consistency &amp; Data</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ACID transactions out-of-the-box. Immediate cross-domain consistency.</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Requires complex Saga patterns. Trades consistency for schema independence.</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1211400">
                <a:tc>
                  <a:txBody>
                    <a:bodyPr anchor="t">
                      <a:noAutofit/>
                    </a:bodyPr>
                    <a:p>
                      <a:pPr defTabSz="457200">
                        <a:lnSpc>
                          <a:spcPct val="100000"/>
                        </a:lnSpc>
                      </a:pPr>
                      <a:r>
                        <a:rPr b="1" lang="en-US" sz="1800" spc="-1" strike="noStrike">
                          <a:solidFill>
                            <a:srgbClr val="be1818"/>
                          </a:solidFill>
                          <a:latin typeface="Century Gothic"/>
                        </a:rPr>
                        <a:t>Team Velocity &amp; Org</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Single repo, instant local debugging. Low coordination overhead.</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800" spc="-1" strike="noStrike">
                          <a:solidFill>
                            <a:srgbClr val="1c1917"/>
                          </a:solidFill>
                          <a:latin typeface="Century Gothic"/>
                        </a:rPr>
                        <a:t>50+ devs. Unblocks independent release cycles (Conway's Law).</a:t>
                      </a:r>
                      <a:endParaRPr b="0" lang="en-CA"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67" name="TextBox 1"/>
          <p:cNvSpPr/>
          <p:nvPr/>
        </p:nvSpPr>
        <p:spPr>
          <a:xfrm>
            <a:off x="3362040" y="228600"/>
            <a:ext cx="52542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1800" spc="-1" strike="noStrike">
                <a:solidFill>
                  <a:srgbClr val="be1818"/>
                </a:solidFill>
                <a:latin typeface="Century Gothic"/>
              </a:rPr>
              <a:t>★ </a:t>
            </a:r>
            <a:r>
              <a:rPr b="1" lang="en-US" sz="1800" spc="-1" strike="noStrike">
                <a:solidFill>
                  <a:srgbClr val="be1818"/>
                </a:solidFill>
                <a:latin typeface="Century Gothic"/>
              </a:rPr>
              <a:t>SECTION 2: ASYNCHRONOUS SYSTEMS</a:t>
            </a:r>
            <a:endParaRPr b="0" lang="en-CA" sz="1800" spc="-1" strike="noStrike">
              <a:solidFill>
                <a:srgbClr val="000000"/>
              </a:solidFill>
              <a:latin typeface="Arial"/>
            </a:endParaRPr>
          </a:p>
        </p:txBody>
      </p:sp>
      <p:sp>
        <p:nvSpPr>
          <p:cNvPr id="68" name="TextBox 2"/>
          <p:cNvSpPr/>
          <p:nvPr/>
        </p:nvSpPr>
        <p:spPr>
          <a:xfrm>
            <a:off x="528120" y="594360"/>
            <a:ext cx="11196360" cy="4881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3200" spc="-1" strike="noStrike">
                <a:solidFill>
                  <a:srgbClr val="1c1917"/>
                </a:solidFill>
                <a:latin typeface="Century Gothic"/>
              </a:rPr>
              <a:t>Event-Driven Decoupling: Beyond Request-Reply</a:t>
            </a:r>
            <a:endParaRPr b="0" lang="en-CA" sz="3200" spc="-1" strike="noStrike">
              <a:solidFill>
                <a:srgbClr val="000000"/>
              </a:solidFill>
              <a:latin typeface="Arial"/>
            </a:endParaRPr>
          </a:p>
        </p:txBody>
      </p:sp>
      <p:sp>
        <p:nvSpPr>
          <p:cNvPr id="69" name="Rounded Rectangle 3"/>
          <p:cNvSpPr/>
          <p:nvPr/>
        </p:nvSpPr>
        <p:spPr>
          <a:xfrm>
            <a:off x="731520" y="1371600"/>
            <a:ext cx="2468520" cy="201132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pc="-1" strike="noStrike">
                <a:solidFill>
                  <a:srgbClr val="be1818"/>
                </a:solidFill>
                <a:latin typeface="Century Gothic"/>
              </a:rPr>
              <a:t>PRODUCER</a:t>
            </a:r>
            <a:br>
              <a:rPr sz="2000"/>
            </a:br>
            <a:r>
              <a:rPr b="1" lang="en-US" sz="2000" spc="-1" strike="noStrike">
                <a:solidFill>
                  <a:srgbClr val="be1818"/>
                </a:solidFill>
                <a:latin typeface="Century Gothic"/>
              </a:rPr>
              <a:t>(Checkout Svc)</a:t>
            </a:r>
            <a:endParaRPr b="0" lang="en-CA" sz="2000" spc="-1" strike="noStrike">
              <a:solidFill>
                <a:srgbClr val="000000"/>
              </a:solidFill>
              <a:latin typeface="Arial"/>
            </a:endParaRPr>
          </a:p>
          <a:p>
            <a:pPr defTabSz="457200">
              <a:lnSpc>
                <a:spcPct val="100000"/>
              </a:lnSpc>
            </a:pPr>
            <a:r>
              <a:rPr b="0" lang="en-US" sz="1600" spc="-1" strike="noStrike">
                <a:solidFill>
                  <a:srgbClr val="1c1917"/>
                </a:solidFill>
                <a:latin typeface="Century Gothic"/>
              </a:rPr>
              <a:t>• </a:t>
            </a:r>
            <a:r>
              <a:rPr b="0" lang="en-US" sz="1600" spc="-1" strike="noStrike">
                <a:solidFill>
                  <a:srgbClr val="1c1917"/>
                </a:solidFill>
                <a:latin typeface="Century Gothic"/>
              </a:rPr>
              <a:t>Writes local DB</a:t>
            </a:r>
            <a:br>
              <a:rPr sz="1600"/>
            </a:br>
            <a:r>
              <a:rPr b="0" lang="en-US" sz="1600" spc="-1" strike="noStrike">
                <a:solidFill>
                  <a:srgbClr val="1c1917"/>
                </a:solidFill>
                <a:latin typeface="Century Gothic"/>
              </a:rPr>
              <a:t>• Publishes 'OrderPlaced'</a:t>
            </a:r>
            <a:br>
              <a:rPr sz="1600"/>
            </a:br>
            <a:r>
              <a:rPr b="0" lang="en-US" sz="1600" spc="-1" strike="noStrike">
                <a:solidFill>
                  <a:srgbClr val="1c1917"/>
                </a:solidFill>
                <a:latin typeface="Century Gothic"/>
              </a:rPr>
              <a:t>• Immediate HTTP 200</a:t>
            </a:r>
            <a:endParaRPr b="0" lang="en-CA" sz="1600" spc="-1" strike="noStrike">
              <a:solidFill>
                <a:srgbClr val="000000"/>
              </a:solidFill>
              <a:latin typeface="Arial"/>
            </a:endParaRPr>
          </a:p>
        </p:txBody>
      </p:sp>
      <p:sp>
        <p:nvSpPr>
          <p:cNvPr id="70" name="Rounded Rectangle 4"/>
          <p:cNvSpPr/>
          <p:nvPr/>
        </p:nvSpPr>
        <p:spPr>
          <a:xfrm>
            <a:off x="3566160" y="1371600"/>
            <a:ext cx="3657240" cy="2011320"/>
          </a:xfrm>
          <a:prstGeom prst="roundRect">
            <a:avLst>
              <a:gd name="adj" fmla="val 16667"/>
            </a:avLst>
          </a:prstGeom>
          <a:solidFill>
            <a:srgbClr val="fef3c7"/>
          </a:solidFill>
          <a:ln w="38100">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pc="-1" strike="noStrike">
                <a:solidFill>
                  <a:srgbClr val="d97706"/>
                </a:solidFill>
                <a:latin typeface="Century Gothic"/>
              </a:rPr>
              <a:t>EVENT STREAM BROKER</a:t>
            </a:r>
            <a:br>
              <a:rPr sz="2000"/>
            </a:br>
            <a:r>
              <a:rPr b="1" lang="en-US" sz="2000" spc="-1" strike="noStrike">
                <a:solidFill>
                  <a:srgbClr val="d97706"/>
                </a:solidFill>
                <a:latin typeface="Century Gothic"/>
              </a:rPr>
              <a:t>(Kafka / RabbitMQ Log)</a:t>
            </a:r>
            <a:endParaRPr b="0" lang="en-CA" sz="2000" spc="-1" strike="noStrike">
              <a:solidFill>
                <a:srgbClr val="000000"/>
              </a:solidFill>
              <a:latin typeface="Arial"/>
            </a:endParaRPr>
          </a:p>
          <a:p>
            <a:pPr defTabSz="457200">
              <a:lnSpc>
                <a:spcPct val="100000"/>
              </a:lnSpc>
            </a:pPr>
            <a:r>
              <a:rPr b="1" lang="en-US" sz="1700" spc="-1" strike="noStrike">
                <a:solidFill>
                  <a:srgbClr val="1c1917"/>
                </a:solidFill>
                <a:latin typeface="Century Gothic"/>
              </a:rPr>
              <a:t>Topic: orders.events</a:t>
            </a:r>
            <a:br>
              <a:rPr sz="1700"/>
            </a:br>
            <a:r>
              <a:rPr b="1" lang="en-US" sz="1700" spc="-1" strike="noStrike">
                <a:solidFill>
                  <a:srgbClr val="1c1917"/>
                </a:solidFill>
                <a:latin typeface="Century Gothic"/>
              </a:rPr>
              <a:t>[E1] ➔ [E2] ➔ [E3]</a:t>
            </a:r>
            <a:br>
              <a:rPr sz="1700"/>
            </a:br>
            <a:r>
              <a:rPr b="1" lang="en-US" sz="1700" spc="-1" strike="noStrike">
                <a:solidFill>
                  <a:srgbClr val="1c1917"/>
                </a:solidFill>
                <a:latin typeface="Century Gothic"/>
              </a:rPr>
              <a:t>(Persistent, Ordered Log)</a:t>
            </a:r>
            <a:endParaRPr b="0" lang="en-CA" sz="1700" spc="-1" strike="noStrike">
              <a:solidFill>
                <a:srgbClr val="000000"/>
              </a:solidFill>
              <a:latin typeface="Arial"/>
            </a:endParaRPr>
          </a:p>
        </p:txBody>
      </p:sp>
      <p:sp>
        <p:nvSpPr>
          <p:cNvPr id="71" name="Rounded Rectangle 5"/>
          <p:cNvSpPr/>
          <p:nvPr/>
        </p:nvSpPr>
        <p:spPr>
          <a:xfrm>
            <a:off x="7589520" y="1280160"/>
            <a:ext cx="2377080" cy="685440"/>
          </a:xfrm>
          <a:prstGeom prst="roundRect">
            <a:avLst>
              <a:gd name="adj" fmla="val 16667"/>
            </a:avLst>
          </a:prstGeom>
          <a:solidFill>
            <a:srgbClr val="ffffff"/>
          </a:solidFill>
          <a:ln w="2540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1c1917"/>
                </a:solidFill>
                <a:latin typeface="Century Gothic"/>
              </a:rPr>
              <a:t>Inventory Worker</a:t>
            </a:r>
            <a:endParaRPr b="0" lang="en-CA" sz="1800" spc="-1" strike="noStrike">
              <a:solidFill>
                <a:srgbClr val="000000"/>
              </a:solidFill>
              <a:latin typeface="Arial"/>
            </a:endParaRPr>
          </a:p>
        </p:txBody>
      </p:sp>
      <p:sp>
        <p:nvSpPr>
          <p:cNvPr id="72" name="Rounded Rectangle 6"/>
          <p:cNvSpPr/>
          <p:nvPr/>
        </p:nvSpPr>
        <p:spPr>
          <a:xfrm>
            <a:off x="7589520" y="2057400"/>
            <a:ext cx="2377080" cy="685440"/>
          </a:xfrm>
          <a:prstGeom prst="roundRect">
            <a:avLst>
              <a:gd name="adj" fmla="val 16667"/>
            </a:avLst>
          </a:prstGeom>
          <a:solidFill>
            <a:srgbClr val="ffffff"/>
          </a:solidFill>
          <a:ln w="2540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1c1917"/>
                </a:solidFill>
                <a:latin typeface="Century Gothic"/>
              </a:rPr>
              <a:t>Payment Worker</a:t>
            </a:r>
            <a:endParaRPr b="0" lang="en-CA" sz="1800" spc="-1" strike="noStrike">
              <a:solidFill>
                <a:srgbClr val="000000"/>
              </a:solidFill>
              <a:latin typeface="Arial"/>
            </a:endParaRPr>
          </a:p>
        </p:txBody>
      </p:sp>
      <p:sp>
        <p:nvSpPr>
          <p:cNvPr id="73" name="Rounded Rectangle 7"/>
          <p:cNvSpPr/>
          <p:nvPr/>
        </p:nvSpPr>
        <p:spPr>
          <a:xfrm>
            <a:off x="7589520" y="2834640"/>
            <a:ext cx="2377080" cy="685440"/>
          </a:xfrm>
          <a:prstGeom prst="roundRect">
            <a:avLst>
              <a:gd name="adj" fmla="val 16667"/>
            </a:avLst>
          </a:prstGeom>
          <a:solidFill>
            <a:srgbClr val="ffffff"/>
          </a:solidFill>
          <a:ln w="2540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1c1917"/>
                </a:solidFill>
                <a:latin typeface="Century Gothic"/>
              </a:rPr>
              <a:t>Email Worker</a:t>
            </a:r>
            <a:endParaRPr b="0" lang="en-CA" sz="1800" spc="-1" strike="noStrike">
              <a:solidFill>
                <a:srgbClr val="000000"/>
              </a:solidFill>
              <a:latin typeface="Arial"/>
            </a:endParaRPr>
          </a:p>
        </p:txBody>
      </p:sp>
      <p:sp>
        <p:nvSpPr>
          <p:cNvPr id="74" name="Rounded Rectangle 8"/>
          <p:cNvSpPr/>
          <p:nvPr/>
        </p:nvSpPr>
        <p:spPr>
          <a:xfrm>
            <a:off x="10241280" y="2057400"/>
            <a:ext cx="1188360" cy="1462680"/>
          </a:xfrm>
          <a:prstGeom prst="roundRect">
            <a:avLst>
              <a:gd name="adj" fmla="val 16667"/>
            </a:avLst>
          </a:prstGeom>
          <a:solidFill>
            <a:srgbClr val="fee2e2"/>
          </a:solidFill>
          <a:ln w="25400">
            <a:solidFill>
              <a:srgbClr val="be181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600" spc="-1" strike="noStrike">
                <a:solidFill>
                  <a:srgbClr val="be1818"/>
                </a:solidFill>
                <a:latin typeface="Century Gothic"/>
              </a:rPr>
              <a:t>DLQ</a:t>
            </a:r>
            <a:br>
              <a:rPr sz="1600"/>
            </a:br>
            <a:r>
              <a:rPr b="1" lang="en-US" sz="1600" spc="-1" strike="noStrike">
                <a:solidFill>
                  <a:srgbClr val="be1818"/>
                </a:solidFill>
                <a:latin typeface="Century Gothic"/>
              </a:rPr>
              <a:t>(Poison</a:t>
            </a:r>
            <a:br>
              <a:rPr sz="1600"/>
            </a:br>
            <a:r>
              <a:rPr b="1" lang="en-US" sz="1600" spc="-1" strike="noStrike">
                <a:solidFill>
                  <a:srgbClr val="be1818"/>
                </a:solidFill>
                <a:latin typeface="Century Gothic"/>
              </a:rPr>
              <a:t>Events)</a:t>
            </a:r>
            <a:endParaRPr b="0" lang="en-CA" sz="1600" spc="-1" strike="noStrike">
              <a:solidFill>
                <a:srgbClr val="000000"/>
              </a:solidFill>
              <a:latin typeface="Arial"/>
            </a:endParaRPr>
          </a:p>
        </p:txBody>
      </p:sp>
      <p:sp>
        <p:nvSpPr>
          <p:cNvPr id="75" name="Rounded Rectangle 9"/>
          <p:cNvSpPr/>
          <p:nvPr/>
        </p:nvSpPr>
        <p:spPr>
          <a:xfrm>
            <a:off x="731520" y="3931920"/>
            <a:ext cx="33829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1. Burst Leveling</a:t>
            </a:r>
            <a:endParaRPr b="0" lang="en-CA" sz="2200" spc="-1" strike="noStrike">
              <a:solidFill>
                <a:srgbClr val="000000"/>
              </a:solidFill>
              <a:latin typeface="Arial"/>
            </a:endParaRPr>
          </a:p>
          <a:p>
            <a:pPr defTabSz="457200">
              <a:lnSpc>
                <a:spcPct val="100000"/>
              </a:lnSpc>
              <a:spcBef>
                <a:spcPts val="799"/>
              </a:spcBef>
            </a:pPr>
            <a:r>
              <a:rPr b="0" lang="en-US" sz="1800" spc="-1" strike="noStrike">
                <a:solidFill>
                  <a:srgbClr val="1c1917"/>
                </a:solidFill>
                <a:latin typeface="Century Gothic"/>
              </a:rPr>
              <a:t>Broker absorbs traffic spikes. Consumers pull at a safe, sustainable rate.</a:t>
            </a:r>
            <a:endParaRPr b="0" lang="en-CA" sz="1800" spc="-1" strike="noStrike">
              <a:solidFill>
                <a:srgbClr val="000000"/>
              </a:solidFill>
              <a:latin typeface="Arial"/>
            </a:endParaRPr>
          </a:p>
        </p:txBody>
      </p:sp>
      <p:sp>
        <p:nvSpPr>
          <p:cNvPr id="76" name="Rounded Rectangle 10"/>
          <p:cNvSpPr/>
          <p:nvPr/>
        </p:nvSpPr>
        <p:spPr>
          <a:xfrm>
            <a:off x="4389120" y="3931920"/>
            <a:ext cx="33829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2. Autonomy</a:t>
            </a:r>
            <a:endParaRPr b="0" lang="en-CA" sz="2200" spc="-1" strike="noStrike">
              <a:solidFill>
                <a:srgbClr val="000000"/>
              </a:solidFill>
              <a:latin typeface="Arial"/>
            </a:endParaRPr>
          </a:p>
          <a:p>
            <a:pPr defTabSz="457200">
              <a:lnSpc>
                <a:spcPct val="100000"/>
              </a:lnSpc>
              <a:spcBef>
                <a:spcPts val="799"/>
              </a:spcBef>
            </a:pPr>
            <a:r>
              <a:rPr b="0" lang="en-US" sz="1800" spc="-1" strike="noStrike">
                <a:solidFill>
                  <a:srgbClr val="1c1917"/>
                </a:solidFill>
                <a:latin typeface="Century Gothic"/>
              </a:rPr>
              <a:t>Add fraud or loyalty services with zero edits to the checkout service.</a:t>
            </a:r>
            <a:endParaRPr b="0" lang="en-CA" sz="1800" spc="-1" strike="noStrike">
              <a:solidFill>
                <a:srgbClr val="000000"/>
              </a:solidFill>
              <a:latin typeface="Arial"/>
            </a:endParaRPr>
          </a:p>
        </p:txBody>
      </p:sp>
      <p:sp>
        <p:nvSpPr>
          <p:cNvPr id="77" name="Rounded Rectangle 11"/>
          <p:cNvSpPr/>
          <p:nvPr/>
        </p:nvSpPr>
        <p:spPr>
          <a:xfrm>
            <a:off x="8046720" y="3931920"/>
            <a:ext cx="33829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3. Blast Containment</a:t>
            </a:r>
            <a:endParaRPr b="0" lang="en-CA" sz="2200" spc="-1" strike="noStrike">
              <a:solidFill>
                <a:srgbClr val="000000"/>
              </a:solidFill>
              <a:latin typeface="Arial"/>
            </a:endParaRPr>
          </a:p>
          <a:p>
            <a:pPr defTabSz="457200">
              <a:lnSpc>
                <a:spcPct val="100000"/>
              </a:lnSpc>
              <a:spcBef>
                <a:spcPts val="799"/>
              </a:spcBef>
            </a:pPr>
            <a:r>
              <a:rPr b="0" lang="en-US" sz="1800" spc="-1" strike="noStrike">
                <a:solidFill>
                  <a:srgbClr val="1c1917"/>
                </a:solidFill>
                <a:latin typeface="Century Gothic"/>
              </a:rPr>
              <a:t>Downstream email outages do not fail user checkout requests.</a:t>
            </a:r>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78" name="TextBox 1"/>
          <p:cNvSpPr/>
          <p:nvPr/>
        </p:nvSpPr>
        <p:spPr>
          <a:xfrm>
            <a:off x="3437280" y="228600"/>
            <a:ext cx="51033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1800" spc="-1" strike="noStrike">
                <a:solidFill>
                  <a:srgbClr val="be1818"/>
                </a:solidFill>
                <a:latin typeface="Century Gothic"/>
              </a:rPr>
              <a:t>★ </a:t>
            </a:r>
            <a:r>
              <a:rPr b="1" lang="en-US" sz="1800" spc="-1" strike="noStrike">
                <a:solidFill>
                  <a:srgbClr val="be1818"/>
                </a:solidFill>
                <a:latin typeface="Century Gothic"/>
              </a:rPr>
              <a:t>SECTION 2: OPERATIONAL OVERHEAD</a:t>
            </a:r>
            <a:endParaRPr b="0" lang="en-CA" sz="1800" spc="-1" strike="noStrike">
              <a:solidFill>
                <a:srgbClr val="000000"/>
              </a:solidFill>
              <a:latin typeface="Arial"/>
            </a:endParaRPr>
          </a:p>
        </p:txBody>
      </p:sp>
      <p:sp>
        <p:nvSpPr>
          <p:cNvPr id="79" name="TextBox 2"/>
          <p:cNvSpPr/>
          <p:nvPr/>
        </p:nvSpPr>
        <p:spPr>
          <a:xfrm>
            <a:off x="1841760" y="594360"/>
            <a:ext cx="8569080" cy="4881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3200" spc="-1" strike="noStrike">
                <a:solidFill>
                  <a:srgbClr val="1c1917"/>
                </a:solidFill>
                <a:latin typeface="Century Gothic"/>
              </a:rPr>
              <a:t>The Operational Tax: Realities of EDA</a:t>
            </a:r>
            <a:endParaRPr b="0" lang="en-CA" sz="3200" spc="-1" strike="noStrike">
              <a:solidFill>
                <a:srgbClr val="000000"/>
              </a:solidFill>
              <a:latin typeface="Arial"/>
            </a:endParaRPr>
          </a:p>
        </p:txBody>
      </p:sp>
      <p:sp>
        <p:nvSpPr>
          <p:cNvPr id="80" name="Rounded Rectangle 3"/>
          <p:cNvSpPr/>
          <p:nvPr/>
        </p:nvSpPr>
        <p:spPr>
          <a:xfrm>
            <a:off x="731520" y="1371600"/>
            <a:ext cx="52117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Eventual Consistency</a:t>
            </a:r>
            <a:endParaRPr b="0" lang="en-CA" sz="2200" spc="-1" strike="noStrike">
              <a:solidFill>
                <a:srgbClr val="000000"/>
              </a:solidFill>
              <a:latin typeface="Arial"/>
            </a:endParaRPr>
          </a:p>
          <a:p>
            <a:pPr defTabSz="457200">
              <a:lnSpc>
                <a:spcPct val="100000"/>
              </a:lnSpc>
              <a:spcBef>
                <a:spcPts val="601"/>
              </a:spcBef>
            </a:pPr>
            <a:r>
              <a:rPr b="0" lang="en-US" sz="1700" spc="-1" strike="noStrike">
                <a:solidFill>
                  <a:srgbClr val="1c1917"/>
                </a:solidFill>
                <a:latin typeface="Century Gothic"/>
              </a:rPr>
              <a:t>• </a:t>
            </a:r>
            <a:r>
              <a:rPr b="0" lang="en-US" sz="1700" spc="-1" strike="noStrike">
                <a:solidFill>
                  <a:srgbClr val="1c1917"/>
                </a:solidFill>
                <a:latin typeface="Century Gothic"/>
              </a:rPr>
              <a:t>Read-After-Write Lag: Immediate data consistency is lost.</a:t>
            </a:r>
            <a:endParaRPr b="0" lang="en-CA" sz="1700" spc="-1" strike="noStrike">
              <a:solidFill>
                <a:srgbClr val="000000"/>
              </a:solidFill>
              <a:latin typeface="Arial"/>
            </a:endParaRPr>
          </a:p>
          <a:p>
            <a:pPr defTabSz="457200">
              <a:lnSpc>
                <a:spcPct val="100000"/>
              </a:lnSpc>
              <a:spcBef>
                <a:spcPts val="601"/>
              </a:spcBef>
            </a:pPr>
            <a:r>
              <a:rPr b="1" lang="en-US" sz="1700" spc="-1" strike="noStrike">
                <a:solidFill>
                  <a:srgbClr val="0d9488"/>
                </a:solidFill>
                <a:latin typeface="Century Gothic"/>
              </a:rPr>
              <a:t>• </a:t>
            </a:r>
            <a:r>
              <a:rPr b="1" lang="en-US" sz="1700" spc="-1" strike="noStrike">
                <a:solidFill>
                  <a:srgbClr val="0d9488"/>
                </a:solidFill>
                <a:latin typeface="Century Gothic"/>
              </a:rPr>
              <a:t>Mitigation: UI optimistic updates, polling, or push notifications.</a:t>
            </a:r>
            <a:endParaRPr b="0" lang="en-CA" sz="1700" spc="-1" strike="noStrike">
              <a:solidFill>
                <a:srgbClr val="000000"/>
              </a:solidFill>
              <a:latin typeface="Arial"/>
            </a:endParaRPr>
          </a:p>
        </p:txBody>
      </p:sp>
      <p:sp>
        <p:nvSpPr>
          <p:cNvPr id="81" name="Rounded Rectangle 4"/>
          <p:cNvSpPr/>
          <p:nvPr/>
        </p:nvSpPr>
        <p:spPr>
          <a:xfrm>
            <a:off x="6217920" y="1371600"/>
            <a:ext cx="52117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At-Least-Once Delivery</a:t>
            </a:r>
            <a:endParaRPr b="0" lang="en-CA" sz="2200" spc="-1" strike="noStrike">
              <a:solidFill>
                <a:srgbClr val="000000"/>
              </a:solidFill>
              <a:latin typeface="Arial"/>
            </a:endParaRPr>
          </a:p>
          <a:p>
            <a:pPr defTabSz="457200">
              <a:lnSpc>
                <a:spcPct val="100000"/>
              </a:lnSpc>
              <a:spcBef>
                <a:spcPts val="601"/>
              </a:spcBef>
            </a:pPr>
            <a:r>
              <a:rPr b="0" lang="en-US" sz="1700" spc="-1" strike="noStrike">
                <a:solidFill>
                  <a:srgbClr val="1c1917"/>
                </a:solidFill>
                <a:latin typeface="Century Gothic"/>
              </a:rPr>
              <a:t>• </a:t>
            </a:r>
            <a:r>
              <a:rPr b="0" lang="en-US" sz="1700" spc="-1" strike="noStrike">
                <a:solidFill>
                  <a:srgbClr val="1c1917"/>
                </a:solidFill>
                <a:latin typeface="Century Gothic"/>
              </a:rPr>
              <a:t>Duplicates: Network retries send repeat events.</a:t>
            </a:r>
            <a:endParaRPr b="0" lang="en-CA" sz="1700" spc="-1" strike="noStrike">
              <a:solidFill>
                <a:srgbClr val="000000"/>
              </a:solidFill>
              <a:latin typeface="Arial"/>
            </a:endParaRPr>
          </a:p>
          <a:p>
            <a:pPr defTabSz="457200">
              <a:lnSpc>
                <a:spcPct val="100000"/>
              </a:lnSpc>
              <a:spcBef>
                <a:spcPts val="601"/>
              </a:spcBef>
            </a:pPr>
            <a:r>
              <a:rPr b="1" lang="en-US" sz="1700" spc="-1" strike="noStrike">
                <a:solidFill>
                  <a:srgbClr val="0d9488"/>
                </a:solidFill>
                <a:latin typeface="Century Gothic"/>
              </a:rPr>
              <a:t>• </a:t>
            </a:r>
            <a:r>
              <a:rPr b="1" lang="en-US" sz="1700" spc="-1" strike="noStrike">
                <a:solidFill>
                  <a:srgbClr val="0d9488"/>
                </a:solidFill>
                <a:latin typeface="Century Gothic"/>
              </a:rPr>
              <a:t>Mitigation: Mandatory consumer idempotency keys &amp; deduplication tables.</a:t>
            </a:r>
            <a:endParaRPr b="0" lang="en-CA" sz="1700" spc="-1" strike="noStrike">
              <a:solidFill>
                <a:srgbClr val="000000"/>
              </a:solidFill>
              <a:latin typeface="Arial"/>
            </a:endParaRPr>
          </a:p>
        </p:txBody>
      </p:sp>
      <p:sp>
        <p:nvSpPr>
          <p:cNvPr id="82" name="Rounded Rectangle 5"/>
          <p:cNvSpPr/>
          <p:nvPr/>
        </p:nvSpPr>
        <p:spPr>
          <a:xfrm>
            <a:off x="731520" y="3931920"/>
            <a:ext cx="52117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Poison Pills &amp; DLQ</a:t>
            </a:r>
            <a:endParaRPr b="0" lang="en-CA" sz="2200" spc="-1" strike="noStrike">
              <a:solidFill>
                <a:srgbClr val="000000"/>
              </a:solidFill>
              <a:latin typeface="Arial"/>
            </a:endParaRPr>
          </a:p>
          <a:p>
            <a:pPr defTabSz="457200">
              <a:lnSpc>
                <a:spcPct val="100000"/>
              </a:lnSpc>
              <a:spcBef>
                <a:spcPts val="601"/>
              </a:spcBef>
            </a:pPr>
            <a:r>
              <a:rPr b="0" lang="en-US" sz="1700" spc="-1" strike="noStrike">
                <a:solidFill>
                  <a:srgbClr val="1c1917"/>
                </a:solidFill>
                <a:latin typeface="Century Gothic"/>
              </a:rPr>
              <a:t>• </a:t>
            </a:r>
            <a:r>
              <a:rPr b="0" lang="en-US" sz="1700" spc="-1" strike="noStrike">
                <a:solidFill>
                  <a:srgbClr val="1c1917"/>
                </a:solidFill>
                <a:latin typeface="Century Gothic"/>
              </a:rPr>
              <a:t>Unhandled Payloads: Crashing messages halt partitions.</a:t>
            </a:r>
            <a:endParaRPr b="0" lang="en-CA" sz="1700" spc="-1" strike="noStrike">
              <a:solidFill>
                <a:srgbClr val="000000"/>
              </a:solidFill>
              <a:latin typeface="Arial"/>
            </a:endParaRPr>
          </a:p>
          <a:p>
            <a:pPr defTabSz="457200">
              <a:lnSpc>
                <a:spcPct val="100000"/>
              </a:lnSpc>
              <a:spcBef>
                <a:spcPts val="601"/>
              </a:spcBef>
            </a:pPr>
            <a:r>
              <a:rPr b="1" lang="en-US" sz="1700" spc="-1" strike="noStrike">
                <a:solidFill>
                  <a:srgbClr val="0d9488"/>
                </a:solidFill>
                <a:latin typeface="Century Gothic"/>
              </a:rPr>
              <a:t>• </a:t>
            </a:r>
            <a:r>
              <a:rPr b="1" lang="en-US" sz="1700" spc="-1" strike="noStrike">
                <a:solidFill>
                  <a:srgbClr val="0d9488"/>
                </a:solidFill>
                <a:latin typeface="Century Gothic"/>
              </a:rPr>
              <a:t>Mitigation: Dead-Letter Queues (DLQ) with automated alert runbooks.</a:t>
            </a:r>
            <a:endParaRPr b="0" lang="en-CA" sz="1700" spc="-1" strike="noStrike">
              <a:solidFill>
                <a:srgbClr val="000000"/>
              </a:solidFill>
              <a:latin typeface="Arial"/>
            </a:endParaRPr>
          </a:p>
        </p:txBody>
      </p:sp>
      <p:sp>
        <p:nvSpPr>
          <p:cNvPr id="83" name="Rounded Rectangle 6"/>
          <p:cNvSpPr/>
          <p:nvPr/>
        </p:nvSpPr>
        <p:spPr>
          <a:xfrm>
            <a:off x="6217920" y="3931920"/>
            <a:ext cx="5211720" cy="2377080"/>
          </a:xfrm>
          <a:prstGeom prst="roundRect">
            <a:avLst>
              <a:gd name="adj" fmla="val 16667"/>
            </a:avLst>
          </a:prstGeom>
          <a:solidFill>
            <a:srgbClr val="ffffff"/>
          </a:solidFill>
          <a:ln w="25400">
            <a:solidFill>
              <a:srgbClr val="29252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be1818"/>
                </a:solidFill>
                <a:latin typeface="Century Gothic"/>
              </a:rPr>
              <a:t>Distributed Tracing</a:t>
            </a:r>
            <a:endParaRPr b="0" lang="en-CA" sz="2200" spc="-1" strike="noStrike">
              <a:solidFill>
                <a:srgbClr val="000000"/>
              </a:solidFill>
              <a:latin typeface="Arial"/>
            </a:endParaRPr>
          </a:p>
          <a:p>
            <a:pPr defTabSz="457200">
              <a:lnSpc>
                <a:spcPct val="100000"/>
              </a:lnSpc>
              <a:spcBef>
                <a:spcPts val="601"/>
              </a:spcBef>
            </a:pPr>
            <a:r>
              <a:rPr b="0" lang="en-US" sz="1700" spc="-1" strike="noStrike">
                <a:solidFill>
                  <a:srgbClr val="1c1917"/>
                </a:solidFill>
                <a:latin typeface="Century Gothic"/>
              </a:rPr>
              <a:t>• </a:t>
            </a:r>
            <a:r>
              <a:rPr b="0" lang="en-US" sz="1700" spc="-1" strike="noStrike">
                <a:solidFill>
                  <a:srgbClr val="1c1917"/>
                </a:solidFill>
                <a:latin typeface="Century Gothic"/>
              </a:rPr>
              <a:t>Trace Drift: Messages cross async threads with no call stack.</a:t>
            </a:r>
            <a:endParaRPr b="0" lang="en-CA" sz="1700" spc="-1" strike="noStrike">
              <a:solidFill>
                <a:srgbClr val="000000"/>
              </a:solidFill>
              <a:latin typeface="Arial"/>
            </a:endParaRPr>
          </a:p>
          <a:p>
            <a:pPr defTabSz="457200">
              <a:lnSpc>
                <a:spcPct val="100000"/>
              </a:lnSpc>
              <a:spcBef>
                <a:spcPts val="601"/>
              </a:spcBef>
            </a:pPr>
            <a:r>
              <a:rPr b="1" lang="en-US" sz="1700" spc="-1" strike="noStrike">
                <a:solidFill>
                  <a:srgbClr val="0d9488"/>
                </a:solidFill>
                <a:latin typeface="Century Gothic"/>
              </a:rPr>
              <a:t>• </a:t>
            </a:r>
            <a:r>
              <a:rPr b="1" lang="en-US" sz="1700" spc="-1" strike="noStrike">
                <a:solidFill>
                  <a:srgbClr val="0d9488"/>
                </a:solidFill>
                <a:latin typeface="Century Gothic"/>
              </a:rPr>
              <a:t>Mitigation: OpenTelemetry correlation IDs injected across all headers.</a:t>
            </a:r>
            <a:endParaRPr b="0" lang="en-CA"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e"/>
        </a:solidFill>
      </p:bgPr>
    </p:bg>
    <p:spTree>
      <p:nvGrpSpPr>
        <p:cNvPr id="1" name=""/>
        <p:cNvGrpSpPr/>
        <p:nvPr/>
      </p:nvGrpSpPr>
      <p:grpSpPr>
        <a:xfrm>
          <a:off x="0" y="0"/>
          <a:ext cx="0" cy="0"/>
          <a:chOff x="0" y="0"/>
          <a:chExt cx="0" cy="0"/>
        </a:xfrm>
      </p:grpSpPr>
      <p:sp>
        <p:nvSpPr>
          <p:cNvPr id="84" name="TextBox 1"/>
          <p:cNvSpPr/>
          <p:nvPr/>
        </p:nvSpPr>
        <p:spPr>
          <a:xfrm>
            <a:off x="3101400" y="228600"/>
            <a:ext cx="57754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1800" spc="-1" strike="noStrike">
                <a:solidFill>
                  <a:srgbClr val="be1818"/>
                </a:solidFill>
                <a:latin typeface="Century Gothic"/>
              </a:rPr>
              <a:t>★ </a:t>
            </a:r>
            <a:r>
              <a:rPr b="1" lang="en-US" sz="1800" spc="-1" strike="noStrike">
                <a:solidFill>
                  <a:srgbClr val="be1818"/>
                </a:solidFill>
                <a:latin typeface="Century Gothic"/>
              </a:rPr>
              <a:t>SECTION 3: EXECUTIVE RECOMMENDATION</a:t>
            </a:r>
            <a:endParaRPr b="0" lang="en-CA" sz="1800" spc="-1" strike="noStrike">
              <a:solidFill>
                <a:srgbClr val="000000"/>
              </a:solidFill>
              <a:latin typeface="Arial"/>
            </a:endParaRPr>
          </a:p>
        </p:txBody>
      </p:sp>
      <p:sp>
        <p:nvSpPr>
          <p:cNvPr id="85" name="TextBox 2"/>
          <p:cNvSpPr/>
          <p:nvPr/>
        </p:nvSpPr>
        <p:spPr>
          <a:xfrm>
            <a:off x="31320" y="594360"/>
            <a:ext cx="12189960" cy="4881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US" sz="3200" spc="-1" strike="noStrike">
                <a:solidFill>
                  <a:srgbClr val="1c1917"/>
                </a:solidFill>
                <a:latin typeface="Century Gothic"/>
              </a:rPr>
              <a:t>Architectural Synthesis: The Concrete Rule of Thumb</a:t>
            </a:r>
            <a:endParaRPr b="0" lang="en-CA" sz="3200" spc="-1" strike="noStrike">
              <a:solidFill>
                <a:srgbClr val="000000"/>
              </a:solidFill>
              <a:latin typeface="Arial"/>
            </a:endParaRPr>
          </a:p>
        </p:txBody>
      </p:sp>
      <p:sp>
        <p:nvSpPr>
          <p:cNvPr id="86" name="Rounded Rectangle 3"/>
          <p:cNvSpPr/>
          <p:nvPr/>
        </p:nvSpPr>
        <p:spPr>
          <a:xfrm>
            <a:off x="731520" y="1371600"/>
            <a:ext cx="3382920" cy="4937400"/>
          </a:xfrm>
          <a:prstGeom prst="roundRect">
            <a:avLst>
              <a:gd name="adj" fmla="val 16667"/>
            </a:avLst>
          </a:prstGeom>
          <a:solidFill>
            <a:srgbClr val="ffffff"/>
          </a:solidFill>
          <a:ln w="31750">
            <a:solidFill>
              <a:srgbClr val="be181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57534e"/>
                </a:solidFill>
                <a:latin typeface="Century Gothic"/>
              </a:rPr>
              <a:t>Stage 1: Startup</a:t>
            </a:r>
            <a:endParaRPr b="0" lang="en-CA" sz="1800" spc="-1" strike="noStrike">
              <a:solidFill>
                <a:srgbClr val="000000"/>
              </a:solidFill>
              <a:latin typeface="Arial"/>
            </a:endParaRPr>
          </a:p>
          <a:p>
            <a:pPr defTabSz="457200">
              <a:lnSpc>
                <a:spcPct val="100000"/>
              </a:lnSpc>
              <a:spcBef>
                <a:spcPts val="400"/>
              </a:spcBef>
            </a:pPr>
            <a:r>
              <a:rPr b="1" lang="en-US" sz="2200" spc="-1" strike="noStrike">
                <a:solidFill>
                  <a:srgbClr val="be1818"/>
                </a:solidFill>
                <a:latin typeface="Century Gothic"/>
              </a:rPr>
              <a:t>Modular Monolith</a:t>
            </a:r>
            <a:endParaRPr b="0" lang="en-CA" sz="22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Keep unified single codebase.</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Enforce boundaries in code, not network.</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ACID transactions by default.</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Max velocity, lowest hosting cost.</a:t>
            </a:r>
            <a:endParaRPr b="0" lang="en-CA" sz="1800" spc="-1" strike="noStrike">
              <a:solidFill>
                <a:srgbClr val="000000"/>
              </a:solidFill>
              <a:latin typeface="Arial"/>
            </a:endParaRPr>
          </a:p>
        </p:txBody>
      </p:sp>
      <p:sp>
        <p:nvSpPr>
          <p:cNvPr id="87" name="Rounded Rectangle 4"/>
          <p:cNvSpPr/>
          <p:nvPr/>
        </p:nvSpPr>
        <p:spPr>
          <a:xfrm>
            <a:off x="4389120" y="1371600"/>
            <a:ext cx="3382920" cy="4937400"/>
          </a:xfrm>
          <a:prstGeom prst="roundRect">
            <a:avLst>
              <a:gd name="adj" fmla="val 16667"/>
            </a:avLst>
          </a:prstGeom>
          <a:solidFill>
            <a:srgbClr val="ffffff"/>
          </a:solidFill>
          <a:ln w="31750">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57534e"/>
                </a:solidFill>
                <a:latin typeface="Century Gothic"/>
              </a:rPr>
              <a:t>Stage 2: Hotspots</a:t>
            </a:r>
            <a:endParaRPr b="0" lang="en-CA" sz="1800" spc="-1" strike="noStrike">
              <a:solidFill>
                <a:srgbClr val="000000"/>
              </a:solidFill>
              <a:latin typeface="Arial"/>
            </a:endParaRPr>
          </a:p>
          <a:p>
            <a:pPr defTabSz="457200">
              <a:lnSpc>
                <a:spcPct val="100000"/>
              </a:lnSpc>
              <a:spcBef>
                <a:spcPts val="400"/>
              </a:spcBef>
            </a:pPr>
            <a:r>
              <a:rPr b="1" lang="en-US" sz="2200" spc="-1" strike="noStrike">
                <a:solidFill>
                  <a:srgbClr val="d97706"/>
                </a:solidFill>
                <a:latin typeface="Century Gothic"/>
              </a:rPr>
              <a:t>Targeted EDA Messaging</a:t>
            </a:r>
            <a:endParaRPr b="0" lang="en-CA" sz="22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Monolith handles core DB logic.</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Extract slow side-effects (email, reports).</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Buffer heavy traffic bursts with broker.</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Preserve transactional simplicity.</a:t>
            </a:r>
            <a:endParaRPr b="0" lang="en-CA" sz="1800" spc="-1" strike="noStrike">
              <a:solidFill>
                <a:srgbClr val="000000"/>
              </a:solidFill>
              <a:latin typeface="Arial"/>
            </a:endParaRPr>
          </a:p>
        </p:txBody>
      </p:sp>
      <p:sp>
        <p:nvSpPr>
          <p:cNvPr id="88" name="Rounded Rectangle 5"/>
          <p:cNvSpPr/>
          <p:nvPr/>
        </p:nvSpPr>
        <p:spPr>
          <a:xfrm>
            <a:off x="8046720" y="1371600"/>
            <a:ext cx="3382920" cy="4937400"/>
          </a:xfrm>
          <a:prstGeom prst="roundRect">
            <a:avLst>
              <a:gd name="adj" fmla="val 16667"/>
            </a:avLst>
          </a:prstGeom>
          <a:solidFill>
            <a:srgbClr val="ffffff"/>
          </a:solidFill>
          <a:ln w="31750">
            <a:solidFill>
              <a:srgbClr val="0d94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57534e"/>
                </a:solidFill>
                <a:latin typeface="Century Gothic"/>
              </a:rPr>
              <a:t>Stage 3: Enterprise</a:t>
            </a:r>
            <a:endParaRPr b="0" lang="en-CA" sz="1800" spc="-1" strike="noStrike">
              <a:solidFill>
                <a:srgbClr val="000000"/>
              </a:solidFill>
              <a:latin typeface="Arial"/>
            </a:endParaRPr>
          </a:p>
          <a:p>
            <a:pPr defTabSz="457200">
              <a:lnSpc>
                <a:spcPct val="100000"/>
              </a:lnSpc>
              <a:spcBef>
                <a:spcPts val="400"/>
              </a:spcBef>
            </a:pPr>
            <a:r>
              <a:rPr b="1" lang="en-US" sz="2200" spc="-1" strike="noStrike">
                <a:solidFill>
                  <a:srgbClr val="0d9488"/>
                </a:solidFill>
                <a:latin typeface="Century Gothic"/>
              </a:rPr>
              <a:t>Microservices (Under Duress)</a:t>
            </a:r>
            <a:endParaRPr b="0" lang="en-CA" sz="22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Split when team friction &gt; ops overhead.</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Isolate asymmetric compute (e.g. GPUs).</a:t>
            </a:r>
            <a:endParaRPr b="0" lang="en-CA" sz="1800" spc="-1" strike="noStrike">
              <a:solidFill>
                <a:srgbClr val="000000"/>
              </a:solidFill>
              <a:latin typeface="Arial"/>
            </a:endParaRPr>
          </a:p>
          <a:p>
            <a:pPr defTabSz="457200">
              <a:lnSpc>
                <a:spcPct val="100000"/>
              </a:lnSpc>
              <a:spcBef>
                <a:spcPts val="1001"/>
              </a:spcBef>
            </a:pPr>
            <a:r>
              <a:rPr b="0" lang="en-US" sz="1800" spc="-1" strike="noStrike">
                <a:solidFill>
                  <a:srgbClr val="1c1917"/>
                </a:solidFill>
                <a:latin typeface="Century Gothic"/>
              </a:rPr>
              <a:t>• </a:t>
            </a:r>
            <a:r>
              <a:rPr b="0" lang="en-US" sz="1800" spc="-1" strike="noStrike">
                <a:solidFill>
                  <a:srgbClr val="1c1917"/>
                </a:solidFill>
                <a:latin typeface="Century Gothic"/>
              </a:rPr>
              <a:t>Database-per-service with async syncing.</a:t>
            </a:r>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717</TotalTime>
  <Application>LibreOffice/7.6.3.2$Linux_X86_64 LibreOffice_project/29d686fea9f6705b262d369fede658f824154cc0</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en-CA</dc:language>
  <cp:lastModifiedBy/>
  <dcterms:modified xsi:type="dcterms:W3CDTF">2026-10-07T12:38:31Z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